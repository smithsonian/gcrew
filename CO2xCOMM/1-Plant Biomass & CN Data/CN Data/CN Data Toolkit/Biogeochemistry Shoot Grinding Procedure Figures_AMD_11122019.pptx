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2" r:id="rId4"/>
    <p:sldId id="263" r:id="rId5"/>
    <p:sldId id="260" r:id="rId6"/>
    <p:sldId id="257" r:id="rId7"/>
    <p:sldId id="259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A00A0-3545-4E95-A6E1-45B1BAC4F9A5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A8F54-2B69-4A50-B096-9C1A659B3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8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1F61-D125-477E-9A78-6A04522C1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8635A-B969-454C-A533-53A8356EB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1B31B-8625-45F3-AA53-20AF787C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2D46E-3BD5-46D7-AD30-B9A4F4A3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1458E-70F5-4D7B-883C-2E041599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0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FCFF-D707-4480-A9C3-12741B16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8E739-F5C5-4290-9AF4-6FD62B324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587E4-C068-4419-981D-B75E31A2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3EEE9-C816-45B3-8983-DFE25FA84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2FDD7-B02E-4109-98BB-F3D016EB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40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397C-A90A-4415-AEB9-7145FD1D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D3BBB-E162-476D-BBFB-6F3490F50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1AE04-3F4D-4C38-A7BD-E08BD7860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5998E-4231-462C-89B3-E1F7C3E1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1731C-4F2E-4CBB-9270-462DD640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4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C694-E9A7-475D-8501-936DCA87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1EA0A-D76C-4C6D-B27A-43F076B1E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D5F41-E632-4E4E-AF41-8BCB0135B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66340-D90C-4BF1-99CF-DE037FEA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FDF64-0395-4904-9257-93D05683B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6F8F8-A7BF-4EC5-8D99-D2D712C1E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04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FA49-13A9-4BF9-9BDA-FEFDBDEE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75229-D44E-4DDF-A3D9-117E136CC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0F4FF-BDFF-4D4D-B941-D58DBB127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517A0-7919-4C18-B231-7AA3AA58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82000-FB66-4AA1-B393-883AEF4C4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5316DC-C12B-4CC6-B0AD-FDA97AD8C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E35D6-2000-4DE7-908D-0287425E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EB9F2-2C52-4387-A5E6-0A6988CD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3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6E84E-C0AF-4472-91E5-24821117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51827-4943-4732-ABEC-D666B352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8304C-83E7-40E3-8713-5B4AD9C61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95DC3-E140-4BD1-9081-C6B299D0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9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A0F21-3D5A-4A39-856B-61B367EA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89C273-69BE-45D2-AD65-DAA0FA98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4746E-B848-4CD9-B552-BFFDD40E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1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C11E-A7B5-454F-84BD-B8204079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89340-B982-4A83-AEF5-193FDBAF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C0776-B6E1-4A59-8411-1B950F078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54859-2A7A-474E-82D1-867FB09F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73C65-238A-41D2-934F-F8721E229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05E95-24F3-4AD6-8744-3D61A305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A246-1A9F-469A-A0C3-ACD9574F4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B50780-0599-445A-A1B9-16132AEE3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E1CA5-C357-4915-B8A3-97F28447F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84C07-AF37-4A15-829D-EC65BD2F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56A13-3F8A-4536-A8C2-35FA1C92C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2BA02-1F61-4F10-A518-085017F1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6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DED3-7E40-40B7-9140-1FB1BD40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85715-F57B-4AB7-9D12-86629A700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7ED0F-C8DF-42CA-ADD7-6730FBA4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3FA7F-ABE8-4526-9CB1-59A4842BA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D36D6-73D0-456D-B1E7-8DA0D602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5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3E45D-3FC9-401D-84AE-5BE371FC1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0FD08-B2C7-4394-B52C-7F53FC723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778FF-6412-42A9-AF27-E5C15568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478D6-38E9-41C7-B244-DE5077C74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655CD-D02E-4EE6-BBF0-9F9E08725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4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C518A-7655-4A3E-8968-5D462FC7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E4406-0BB6-4C8D-B5BD-CBA6FE112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CDCD3-3D46-4A9D-8097-9722762A9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EB1F1-DA2D-46AE-AA0E-5B00D7D7A99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5D5D0-CFB0-4C3F-8DC1-C60413705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9EA07-956E-4E27-9FEA-6C36828A2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4B8DC-E53C-4B86-B6E2-98697FBC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7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E688-7F1C-43CD-A214-04683D677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Biogeochemistry C:N Shoot Grinding Procedure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9F63C-368E-442B-A396-03AAEA0F6F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AMD 11-12-2019</a:t>
            </a:r>
          </a:p>
        </p:txBody>
      </p:sp>
    </p:spTree>
    <p:extLst>
      <p:ext uri="{BB962C8B-B14F-4D97-AF65-F5344CB8AC3E}">
        <p14:creationId xmlns:p14="http://schemas.microsoft.com/office/powerpoint/2010/main" val="34521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lh3.googleusercontent.com/FYkpRt7YE1FJd71tiJvQSA9dl6bKCdQuVm5FZwUAi0vknzU1_Gl4KVjyHkc7D3ue9tBW_YJByQi9_F9fIXjMftDilCGQEFWIvSS6ysb2cKMLGrg6vLiRgJe3pr9HUylH4eUSiku1RZ-E8I0UskMUDVFDYv3WZKtK6Ws3PWxfAfIDxN72tqL5iYd4rM2hYL9nRb-SDYLL2nDi37eyis1M6VOjQBEWrZ3X7pCSjbvEFepDsQTEzll6yozXWK6P3qCRF1gpIBHVjv3f9JJR-u2dqj2M3LiS5YTyzF5QZ1EJFO4YNL7oYVFB9Xb8BFj3_zr6mR6bmHQsYzIhBqBfoc_mwUnyqqKsqel0VvcmRVgwNfAw0GNZGGdOr-ARqrDXWT9fX0nEHaKa598AI7BpUIL3VQDs9eK48QXW_X_bRSBmtuNzxJkI4CWD_3ZRo7rsrimv7g-aScmipUB26b6sKcnR5l4c_rkSMe5g0AGMYEae2qPjouKQ6GYyPMu6rqBkQUJ2d19Iy9izr7wF1kMtlMXR5aoLQmXxmkcrD8toSrzw_DiSMonksEHrA3U6_fBHOfHpSkdfOI-BzXScMr6Zv6Hp8yHjY_pDHAxEU13HPRV5uk3rqeVr_5tv65qv2KrHhUxxLmZPL4958uRxQGZ8XvagEiZyO7Y247cUw2QFGLAk4_8Ex5tm-uwFDw=w1152-h864-no">
            <a:extLst>
              <a:ext uri="{FF2B5EF4-FFF2-40B4-BE49-F238E27FC236}">
                <a16:creationId xmlns:a16="http://schemas.microsoft.com/office/drawing/2014/main" id="{98B56397-1D93-406A-B9E7-75A69CDE4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75" y="850007"/>
            <a:ext cx="7780748" cy="583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DEAB70-C007-4D04-B83B-AB2C57A03E09}"/>
              </a:ext>
            </a:extLst>
          </p:cNvPr>
          <p:cNvSpPr txBox="1"/>
          <p:nvPr/>
        </p:nvSpPr>
        <p:spPr>
          <a:xfrm>
            <a:off x="8394641" y="850007"/>
            <a:ext cx="32583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Label tops of sample tubes* according to which samples are present from the harvest data sheet.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04154" y="185311"/>
            <a:ext cx="6012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Scintillation Vile Preparation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828D2B49-54FA-424B-A077-6F40286D08CE}"/>
              </a:ext>
            </a:extLst>
          </p:cNvPr>
          <p:cNvSpPr/>
          <p:nvPr/>
        </p:nvSpPr>
        <p:spPr>
          <a:xfrm>
            <a:off x="8283801" y="3332608"/>
            <a:ext cx="1200150" cy="1171575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Year             1M  CO2 Plot/Ch#  Species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C1117D0-3EBC-44B2-9C2F-0B99515D5D18}"/>
              </a:ext>
            </a:extLst>
          </p:cNvPr>
          <p:cNvSpPr/>
          <p:nvPr/>
        </p:nvSpPr>
        <p:spPr>
          <a:xfrm>
            <a:off x="10585360" y="3350723"/>
            <a:ext cx="1143000" cy="1133475"/>
          </a:xfrm>
          <a:prstGeom prst="flowChartConnector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2019          1M  CO2         SP1E        SPPA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057C65-5077-4B6A-BD22-AAD3B6D6E488}"/>
              </a:ext>
            </a:extLst>
          </p:cNvPr>
          <p:cNvCxnSpPr/>
          <p:nvPr/>
        </p:nvCxnSpPr>
        <p:spPr>
          <a:xfrm flipV="1">
            <a:off x="9674046" y="3930339"/>
            <a:ext cx="742950" cy="95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31CEBF9-E945-46B8-9CD3-5E4FAD71D834}"/>
              </a:ext>
            </a:extLst>
          </p:cNvPr>
          <p:cNvSpPr txBox="1"/>
          <p:nvPr/>
        </p:nvSpPr>
        <p:spPr>
          <a:xfrm>
            <a:off x="8237947" y="5530939"/>
            <a:ext cx="37627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*Do not label tubes for Misc. samples </a:t>
            </a:r>
          </a:p>
        </p:txBody>
      </p:sp>
    </p:spTree>
    <p:extLst>
      <p:ext uri="{BB962C8B-B14F-4D97-AF65-F5344CB8AC3E}">
        <p14:creationId xmlns:p14="http://schemas.microsoft.com/office/powerpoint/2010/main" val="318556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EAB70-C007-4D04-B83B-AB2C57A03E09}"/>
              </a:ext>
            </a:extLst>
          </p:cNvPr>
          <p:cNvSpPr txBox="1"/>
          <p:nvPr/>
        </p:nvSpPr>
        <p:spPr>
          <a:xfrm>
            <a:off x="7927543" y="1764834"/>
            <a:ext cx="40077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Open the lid of the mill and inspect belt; it should be set on tracks (</a:t>
            </a:r>
            <a:r>
              <a:rPr lang="en-US" sz="2800" dirty="0">
                <a:solidFill>
                  <a:schemeClr val="accent2"/>
                </a:solidFill>
              </a:rPr>
              <a:t>orange</a:t>
            </a:r>
            <a:r>
              <a:rPr lang="en-US" sz="2800" dirty="0"/>
              <a:t>)</a:t>
            </a:r>
          </a:p>
          <a:p>
            <a:endParaRPr lang="en-US" sz="2800" dirty="0"/>
          </a:p>
          <a:p>
            <a:r>
              <a:rPr lang="en-US" sz="2800" dirty="0"/>
              <a:t>- If capsule holsters do not move freely, spray ball-joints with WD-40 and move around (</a:t>
            </a:r>
            <a:r>
              <a:rPr lang="en-US" sz="2800" dirty="0">
                <a:solidFill>
                  <a:schemeClr val="accent5"/>
                </a:solidFill>
              </a:rPr>
              <a:t>blue</a:t>
            </a:r>
            <a:r>
              <a:rPr lang="en-US" sz="28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04154" y="134153"/>
            <a:ext cx="6012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Inspect Mill </a:t>
            </a:r>
          </a:p>
        </p:txBody>
      </p:sp>
      <p:pic>
        <p:nvPicPr>
          <p:cNvPr id="6148" name="Picture 4" descr="https://lh3.googleusercontent.com/PQ3ohelmjYkhHHgfg1BL4nZjMEskj-eCOJrJ8raLriqFfI58_n11rq7-PFAbyP8H8QmOWHMS_q1noum2UkrVCm5sSgnBnuDHnOy16d4JMZl6wf__5FCme5zyvy-j_vpZxnDjAOmXOt9AfoATScEIzatdSTDaUnkkIIsGnGFDSZKTSeU6EiTKHLnRgMIWVCCPnmvMsz9DsoGYdnH9JsDJe2g4PVBxxaUeeyhuLIF-GglAoIaQCdV57X4WvNhR3U4TJoxTMZq3Gr_nzhts5NCFOtrB2swsjYCjZkKCKs0q8bDl6k5KM_cLeRqFg7aais8D_IUXuhfVzIp84w9QekmZZ6HjBwV91UcrASZzrUIcOa6Ap9587nYRqV8ceSpg27mo9jZisADX3W4zrGL1GUkkeonwJwRDv0KQjcydXzohEW_jOOjegoBqIP-h2FrJTcOPOPTZ-UlxYeupt2asIsn4bS1D1ADLMsvrObSk64Ru_acA4DB1rNM7z2CATKQ7szIURcCvNGKhACJyTDNLqBnzsCG3jYDsIAhqB8Ha_l0ww-iuErE53n3TSKLORse41AvTv8g09BsunGsEVrQWVuE_sKRoxUE4PxUUqJCGPxK1GD_Dnwr0HTCtJyB7CYsaW_6VGfIWvPwxX6LpT6JZSyh0g4arRMYs9MVgHu7Xe7XpuhQqVn98j8VYjQ=w1152-h864-no">
            <a:extLst>
              <a:ext uri="{FF2B5EF4-FFF2-40B4-BE49-F238E27FC236}">
                <a16:creationId xmlns:a16="http://schemas.microsoft.com/office/drawing/2014/main" id="{3A064154-7F39-4648-882D-25A484897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3" y="708531"/>
            <a:ext cx="7536049" cy="565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917673-3E6A-47F2-B354-2BCD52F15E87}"/>
              </a:ext>
            </a:extLst>
          </p:cNvPr>
          <p:cNvSpPr/>
          <p:nvPr/>
        </p:nvSpPr>
        <p:spPr>
          <a:xfrm>
            <a:off x="2247900" y="3733800"/>
            <a:ext cx="441960" cy="89916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244672-A7B6-46F0-9EC2-D1418D2FBEE0}"/>
              </a:ext>
            </a:extLst>
          </p:cNvPr>
          <p:cNvCxnSpPr>
            <a:cxnSpLocks/>
          </p:cNvCxnSpPr>
          <p:nvPr/>
        </p:nvCxnSpPr>
        <p:spPr>
          <a:xfrm flipH="1" flipV="1">
            <a:off x="5448300" y="4366260"/>
            <a:ext cx="647700" cy="116470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AAEEF7-8196-49DE-BF8D-9E5914138F46}"/>
              </a:ext>
            </a:extLst>
          </p:cNvPr>
          <p:cNvCxnSpPr>
            <a:cxnSpLocks/>
          </p:cNvCxnSpPr>
          <p:nvPr/>
        </p:nvCxnSpPr>
        <p:spPr>
          <a:xfrm flipV="1">
            <a:off x="1625600" y="4258176"/>
            <a:ext cx="468886" cy="131712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764D7-53DF-489B-A434-FDED55F9F3C1}"/>
              </a:ext>
            </a:extLst>
          </p:cNvPr>
          <p:cNvSpPr/>
          <p:nvPr/>
        </p:nvSpPr>
        <p:spPr>
          <a:xfrm>
            <a:off x="2326592" y="2018892"/>
            <a:ext cx="441960" cy="71160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8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EAB70-C007-4D04-B83B-AB2C57A03E09}"/>
              </a:ext>
            </a:extLst>
          </p:cNvPr>
          <p:cNvSpPr txBox="1"/>
          <p:nvPr/>
        </p:nvSpPr>
        <p:spPr>
          <a:xfrm>
            <a:off x="7841028" y="1626926"/>
            <a:ext cx="40077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Turn on mill by flipping the switch by the back-right corner.</a:t>
            </a:r>
          </a:p>
          <a:p>
            <a:endParaRPr lang="en-US" sz="2800" dirty="0"/>
          </a:p>
          <a:p>
            <a:r>
              <a:rPr lang="en-US" sz="2800" dirty="0"/>
              <a:t>Set time to 7min: 30sec by pressing the two buttons below the time display. If you go over the min number it is easier to turn the mill off/on again.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04154" y="210711"/>
            <a:ext cx="6012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Prep Mill </a:t>
            </a:r>
          </a:p>
        </p:txBody>
      </p:sp>
      <p:pic>
        <p:nvPicPr>
          <p:cNvPr id="6146" name="Picture 2" descr="https://lh3.googleusercontent.com/go_6yln2OqL32Cw7V7zjiEPkb61Ti1rkRxqGrEGxknPBrKEqjlDdJpttwq_ZqvHPaUvUw057YY6DdAkhZyAxoSD0SXAsHQFFz6TJIz3iIUp0rSqOD70NaXCTTiPRXW8maS2pilMlvllPsZOauX8BOUIzqpTuFyzaeesiy52LontsI12-Invf8_byiky5PmGU_t7ppRlaQOw6RHsFldpHa6AFaNOUVJ11zF-ulytEd1uZyYOdJQ6UUtBFdiciEaQ42eefKR4-GLYrc165MCbTOgPZty0gjPAV4isygruC517xfYJCmXrCzuQnbROlgWmabjwe77SFBvUjFbrTj8F8fguiWslb2t99uc1g11iocnIbzuvE-dGIij8k5ht7wuPdlhWjy5mRAnYiKZIBEtNFoJJhZEqFeIJyAXqMCXcsmQ-WqQF-f8xVYeYFaXIhVwt2aDLrW9BpHtlE3l9m7KuVmnelR3tV6Gl4-4zysYxeXeh5QyVwLvNAMGtVXMsyFN7yxmmhrfzjp_VJivjXE5B1RBvhvGI4H0ROGFov41321qMtySS-r0AsvBKnBh3_oIozFfqLpGRWtV7S9uLEUFYKrjz5pc7ajEdod_RSdsMrVoCFQbV_dUKOyYkAP4bhX8P6QhhKLoijND_lOZAHOnyjp6LeLCAY7mLi33734Q_djPESfGPriN2kWw=w1152-h864-no">
            <a:extLst>
              <a:ext uri="{FF2B5EF4-FFF2-40B4-BE49-F238E27FC236}">
                <a16:creationId xmlns:a16="http://schemas.microsoft.com/office/drawing/2014/main" id="{77FA12FF-BF8E-4F69-9A2F-35365B690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3" y="1072165"/>
            <a:ext cx="7381505" cy="5536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32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EAB70-C007-4D04-B83B-AB2C57A03E09}"/>
              </a:ext>
            </a:extLst>
          </p:cNvPr>
          <p:cNvSpPr txBox="1"/>
          <p:nvPr/>
        </p:nvSpPr>
        <p:spPr>
          <a:xfrm>
            <a:off x="7609208" y="1197620"/>
            <a:ext cx="391422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Use a small amount of ethanol and a towel to sterilize* each capsule.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Make sure to take out the </a:t>
            </a:r>
            <a:r>
              <a:rPr lang="en-US" sz="2800" dirty="0" err="1">
                <a:solidFill>
                  <a:srgbClr val="FF0000"/>
                </a:solidFill>
              </a:rPr>
              <a:t>o-ring</a:t>
            </a:r>
            <a:r>
              <a:rPr lang="en-US" sz="2800" dirty="0">
                <a:solidFill>
                  <a:srgbClr val="FF0000"/>
                </a:solidFill>
              </a:rPr>
              <a:t> from the cover and sterilize this region!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r>
              <a:rPr lang="en-US" sz="2000" dirty="0"/>
              <a:t>*Capsules and components must be completely dry before grinding process begins.</a:t>
            </a:r>
          </a:p>
        </p:txBody>
      </p:sp>
      <p:pic>
        <p:nvPicPr>
          <p:cNvPr id="3074" name="Picture 2" descr="https://lh3.googleusercontent.com/GjXTqD0CQiNVD33bCRXOyIYWd_ZZS5gkkUHu9SI-VubiFfIm46txq8Ys0OiTJ4J9C8YRyJkmxYtgEkXhyYWlEYRmpjgLs8SCVhBrLK84ukbxmXGDJsRRS2BuaZ4j6GdAiamr7JWd-w1-wMqx_Fnb6KAcrUy2VxM_z7_ETY1Wr7dS36l9DEDuQyEtnGjxkQcFNGeogyTJNAkYKYsh8o0SL20S6R8BN47rWatVzmUhEYjbvzt3CkqLOJEQYkV_h427CxXBKApGcKevDsdKvgStbYw-6D9LjVxrJfY9TfL7R8CfWcihGEUHwpFsT8EvQ_UhsNx7LBtovrG28XRKi7ZwA9ZEzlGpMzYXL82VRMRuQRuZ6o4jEwb0w1C5gzXfqU0lXV50Qf5Y3lQi5aCW1V8zZvMBlo9HiRsrsmxNWOFRmi38LFB18zjuSFWcU9nHcMDyb8ohW0wTn2LwWWhhmMyvywkncIl7U4UO9Ui_PAz4yZjQF69P4eDVq61Uzc0E9BoaCBiSUxe6o5EnKKwLAFX3P6V4Vvj1oYLFhSWmuKCJwj--SOcydwvSsEF8nDEJ-r97yl7g-V_0CXkskoS5gsYmFtwSj2luNdmyI-7GEZtZvbqThyJUKrUowYmSN2-FzporruKCXpYQjLJdHE2SWTnVhEgN6K9rEWW8jG-XuLYNirFUA2e4bMPYCA=w1152-h864-no">
            <a:extLst>
              <a:ext uri="{FF2B5EF4-FFF2-40B4-BE49-F238E27FC236}">
                <a16:creationId xmlns:a16="http://schemas.microsoft.com/office/drawing/2014/main" id="{F11E546D-2748-4A97-B450-33EE77355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29" y="1029952"/>
            <a:ext cx="7071456" cy="530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E22570-D3D7-4098-9780-F66D3B2F042A}"/>
              </a:ext>
            </a:extLst>
          </p:cNvPr>
          <p:cNvSpPr txBox="1"/>
          <p:nvPr/>
        </p:nvSpPr>
        <p:spPr>
          <a:xfrm>
            <a:off x="179350" y="283220"/>
            <a:ext cx="628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Capsule Sterilization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8504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6367FEE-F092-454A-9FA3-11456C19EB61}"/>
              </a:ext>
            </a:extLst>
          </p:cNvPr>
          <p:cNvGrpSpPr/>
          <p:nvPr/>
        </p:nvGrpSpPr>
        <p:grpSpPr>
          <a:xfrm>
            <a:off x="297288" y="1166343"/>
            <a:ext cx="6858000" cy="5143500"/>
            <a:chOff x="387440" y="857250"/>
            <a:chExt cx="6858000" cy="5143500"/>
          </a:xfrm>
        </p:grpSpPr>
        <p:pic>
          <p:nvPicPr>
            <p:cNvPr id="1026" name="Picture 2" descr="https://lh3.googleusercontent.com/hdYMMEcrTY0LHKh9pw0zYvbGnQ4Abz66QBjVbQ66qtsjaYmE2ODz5TBe6gC-iBJFPOBcK8ZeWn3W12Cs5odMi5rqAjjwm0cdRVDj0A1ibpt9suXQ8QofjA5to66pOjhv52Sq-eInDLA10vSm4Ldn_udj7-0Bd4Z7-aGuhWTmRTlVau_5lutMV6Ei5A600kWl0uBNvFDSmud7ik9KvomYsNxDrmuq2IpxMU0fdoWrdhO1N9L2g-5C5XwBrq3pJ459PuCcBNq6f9ONGQRvp96a0u7X_mauiO4q8cGQpj_3RShTY8_XH1GGsVEBnS8n_spEIofTvMmG91C3Eo_sdJYw3a1mlmANMCCjs9TsQuV1iqNZaF-pl00L7BLgNjYL_1bo0XbOx8_fyRrCqNODKRMtKeb8rGqkPI-_ivus7EdqUn_TO18FMpzN_7VuqBsfAq94ZjZCHe58Mz_BJjY2ZeWaTJieHI8hB9ABFdITJYly7gMAHfdmofkgij199esSSyBF6QlpNqYjkChGGegDcAtllJykhxvBPShcuvVaP42JaaFXZpe41WMDRs0f3FrTbcseChfdQAPmbKNuRJvh8BuORhFn3MhS7MTfIMk0Gr5M7n3PmGq6zJ0ZB8Xw2Ssiy3nuAmpLLjzBrUn5WNmFgy6gujjChjNkbcTCmKl87pPSaQDMtr1aCctv9A=w648-h864-no">
              <a:extLst>
                <a:ext uri="{FF2B5EF4-FFF2-40B4-BE49-F238E27FC236}">
                  <a16:creationId xmlns:a16="http://schemas.microsoft.com/office/drawing/2014/main" id="{A90A101D-C311-44BD-A37B-1FFB4561EB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1244690" y="0"/>
              <a:ext cx="5143500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8C8346-6E6B-4598-BE34-016319633BAB}"/>
                </a:ext>
              </a:extLst>
            </p:cNvPr>
            <p:cNvSpPr/>
            <p:nvPr/>
          </p:nvSpPr>
          <p:spPr>
            <a:xfrm>
              <a:off x="5365929" y="2846230"/>
              <a:ext cx="641350" cy="582769"/>
            </a:xfrm>
            <a:prstGeom prst="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1C2AEF-994B-47CD-A6F7-A37C47AA506C}"/>
                </a:ext>
              </a:extLst>
            </p:cNvPr>
            <p:cNvSpPr/>
            <p:nvPr/>
          </p:nvSpPr>
          <p:spPr>
            <a:xfrm rot="20717160">
              <a:off x="3397166" y="3209508"/>
              <a:ext cx="641350" cy="582769"/>
            </a:xfrm>
            <a:prstGeom prst="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769E25-85CB-465B-9735-2D588B0D70E9}"/>
                </a:ext>
              </a:extLst>
            </p:cNvPr>
            <p:cNvSpPr/>
            <p:nvPr/>
          </p:nvSpPr>
          <p:spPr>
            <a:xfrm rot="19836908">
              <a:off x="1686967" y="4381487"/>
              <a:ext cx="641350" cy="582769"/>
            </a:xfrm>
            <a:prstGeom prst="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87D787-DCDA-4343-B329-D713C182CCDC}"/>
                </a:ext>
              </a:extLst>
            </p:cNvPr>
            <p:cNvSpPr/>
            <p:nvPr/>
          </p:nvSpPr>
          <p:spPr>
            <a:xfrm>
              <a:off x="5365810" y="2256472"/>
              <a:ext cx="641350" cy="582769"/>
            </a:xfrm>
            <a:prstGeom prst="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394CFEE-093C-4A3D-945A-36987D17C671}"/>
              </a:ext>
            </a:extLst>
          </p:cNvPr>
          <p:cNvSpPr txBox="1"/>
          <p:nvPr/>
        </p:nvSpPr>
        <p:spPr>
          <a:xfrm>
            <a:off x="7618281" y="2754839"/>
            <a:ext cx="38894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Grab harvest bags in sets of 2, and match them with the sample vials that are next.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5674C-F0E5-4FC6-9D81-A6D6154EA830}"/>
              </a:ext>
            </a:extLst>
          </p:cNvPr>
          <p:cNvSpPr txBox="1"/>
          <p:nvPr/>
        </p:nvSpPr>
        <p:spPr>
          <a:xfrm>
            <a:off x="148197" y="333513"/>
            <a:ext cx="3889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Harvest Bag Organization</a:t>
            </a:r>
          </a:p>
        </p:txBody>
      </p:sp>
    </p:spTree>
    <p:extLst>
      <p:ext uri="{BB962C8B-B14F-4D97-AF65-F5344CB8AC3E}">
        <p14:creationId xmlns:p14="http://schemas.microsoft.com/office/powerpoint/2010/main" val="258110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94CFEE-093C-4A3D-945A-36987D17C671}"/>
              </a:ext>
            </a:extLst>
          </p:cNvPr>
          <p:cNvSpPr txBox="1"/>
          <p:nvPr/>
        </p:nvSpPr>
        <p:spPr>
          <a:xfrm>
            <a:off x="7843234" y="1312194"/>
            <a:ext cx="388941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sample is cut up, gently pour shoot pieces into capsule until it is between ¼ and 1/3.</a:t>
            </a:r>
          </a:p>
          <a:p>
            <a:endParaRPr lang="en-US" sz="2800" dirty="0"/>
          </a:p>
          <a:p>
            <a:r>
              <a:rPr lang="en-US" sz="2800" dirty="0"/>
              <a:t>If sample is not cut up, use a pair of scissors to cut small shoot pieces (≤ 3 cm) in harvest bag, and shake in bag until mixed well.</a:t>
            </a:r>
          </a:p>
        </p:txBody>
      </p:sp>
      <p:pic>
        <p:nvPicPr>
          <p:cNvPr id="4098" name="Picture 2" descr="https://lh3.googleusercontent.com/JaFCaA_HIGB-wNksrpjsdwklIAFEGPqowTF-kyLPSGRi0idDf5ZbBgVPhrwedDn9VDk9dZTZ4eWPeACR9y_lK52T66uEGdglY322qknxgj9_0PuPqiyfe-iNTKZDaSwakP41yWeLSVCvxQATY6KUVgBjH_cSvob-TMbAD30eICQYmdUblEqa6j7omHOxlZmel4jjd5zASM4FVKevGT5dc1pNJ_yFsJ1-fUXq8pfKDkcesP0niVZH99bUmesanpyGWcMXLRb2XnJ4oV1xToXuUMK9uWYAEoHGPhu3YCOzVt9p70nug4sNAVN4BK9eARdodash2ui8mPVVvF1rQaFBJaKDiv9WwOLW8NdV_59kn0PVTIgYxgwGmFiDm84fSTTOFpKuB8Qpxo1d0Pu5JsJDc-uHzXSHQThqfnpPeuKjxJRf49Kb4yCovsJKYT7Y3_d0HqbMhNV2WMKBpuC9TCVBr74iPNXbfbywW3wlCBKqIro6DdBPqeM1K1jQdcPG217BUbXM_K581vCTjL9XsmRsgzZSEaDVKa_9Dj0xcM70xxag1TJvmN9B-uJEiSHg4I5qGNm3L1EMBhn1LSFau933gi-PS8vgUWOzgZU3QVVPec6Fs9V0vZavk4JP0YUmNlV0LgUpOP5njBge8UsJnSKh3Zj7LSBm9KVd-amAUjvUPuE25JYh0z3lRw=w648-h864-no">
            <a:extLst>
              <a:ext uri="{FF2B5EF4-FFF2-40B4-BE49-F238E27FC236}">
                <a16:creationId xmlns:a16="http://schemas.microsoft.com/office/drawing/2014/main" id="{D19C259C-0451-419A-818B-663EE6DED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38304" y="426100"/>
            <a:ext cx="5316560" cy="7088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69E1BB-AA3E-47A2-A356-BD3C9EE5F681}"/>
              </a:ext>
            </a:extLst>
          </p:cNvPr>
          <p:cNvSpPr txBox="1"/>
          <p:nvPr/>
        </p:nvSpPr>
        <p:spPr>
          <a:xfrm>
            <a:off x="188890" y="27546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Placing Sample in Capsule</a:t>
            </a:r>
          </a:p>
        </p:txBody>
      </p:sp>
    </p:spTree>
    <p:extLst>
      <p:ext uri="{BB962C8B-B14F-4D97-AF65-F5344CB8AC3E}">
        <p14:creationId xmlns:p14="http://schemas.microsoft.com/office/powerpoint/2010/main" val="100690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94CFEE-093C-4A3D-945A-36987D17C671}"/>
              </a:ext>
            </a:extLst>
          </p:cNvPr>
          <p:cNvSpPr txBox="1"/>
          <p:nvPr/>
        </p:nvSpPr>
        <p:spPr>
          <a:xfrm>
            <a:off x="596721" y="5484415"/>
            <a:ext cx="52717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Place metal ball in capsule, and secure the top </a:t>
            </a:r>
            <a:r>
              <a:rPr lang="en-US" sz="2800" b="1" dirty="0"/>
              <a:t>tightly.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9E1BB-AA3E-47A2-A356-BD3C9EE5F681}"/>
              </a:ext>
            </a:extLst>
          </p:cNvPr>
          <p:cNvSpPr txBox="1"/>
          <p:nvPr/>
        </p:nvSpPr>
        <p:spPr>
          <a:xfrm>
            <a:off x="188890" y="27546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Secure Capsule and Place Next to Mill</a:t>
            </a:r>
          </a:p>
        </p:txBody>
      </p:sp>
      <p:pic>
        <p:nvPicPr>
          <p:cNvPr id="5122" name="Picture 2" descr="https://lh3.googleusercontent.com/paGytNDpE0lHPN-c8yfBsVSsBvHZaANg75EmSGw1VYZLZAyj15ttUgzAG6SQEiuPWWj50sSvCKPVekblYAldoRrc9t25PGq4SYRXgVtv2nHcwt4bddr23mt8BTdv0aTqcBhwvkhHHm9dapggdN05gC7Sfy8vzY_7MY_I2QvS8_ko_hq9Oar2vll6tYHZPYfBomcfrE3NpIMsWJ7eOl-pZXUQ6vuSMrqOVItfCK8Qf5EbLKfRp03089mBqdqr4ZO6kPBz9B7Q4jCguYHHgZ_z34k-NxFR57L-1LITaju1BdUqJJ6tkcVvuf1FU_msV02RIhfxdnLC_uhEUjnQr1J3wvpgrZUBaianXvxKXMeMAPARV9vgooq_qhGy2E-6abAKHvKMJwoNGFkWpz2bYMtP9e3rO_RNPPUmDbhtk0UZs6F9qQ5jUDgOBBj9bf0iwQ1iroOpxlMRfyO9DyWaOwX9K367td1KIyFlX39L66u5zL1MVeJ8xtBylXVtyMvj9Xf8YhRjGU1E9MgTobW3kflQ5pLP8ppDnT33IodC9NibJEM077Dhnd4_ISINxdcgEbX6Ww3RBwwdkblCeJWZDSuBgTPj8-iteyhlYuUbBbnLvmy3lz_DibDGJAwTI-v3XuRVFwNTwe3lNt2Gc-NEJl4l2xY5Bm-SBU6Ty8KsetAAUb_zN38VlYPbgg=w648-h864-no">
            <a:extLst>
              <a:ext uri="{FF2B5EF4-FFF2-40B4-BE49-F238E27FC236}">
                <a16:creationId xmlns:a16="http://schemas.microsoft.com/office/drawing/2014/main" id="{F43B4F5D-60D8-4D84-85D8-734E795AF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813" y="983444"/>
            <a:ext cx="3237158" cy="431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lh3.googleusercontent.com/HCF7jDIkGGc557GbdkAbRtDj9_l_BkUhDlNwDQZjoBz3xaoL4DYGmMd4WFSWl3RLvBQSAG2jWCU6Y_v0vN3IeneWt2pbwPl9ZQ6nAMtH5Go-T1eXGNLgGTrQSQvfcuymOC0t-IDuoZ32p151H-_TkYyjMPeNRCwV9rsxLYaXVQ7ft38BacvdMV_Jy0ZvduuzXA083-Uzq_ZKl0jsDrbEM3DgQyX5INZDP2HAKwWkStyXT7Gzjpg9SA2ufM1zc7t6bZGPVUrpvSpzwqX9mXVmfwga8MwKmnukGGTeHU93w5CWAfr5-BZqY-rN5nz7jAKKSljI_EsWkXkAAGPrZr38Pf3ND6VeVjOGf9UADURqNXwIY_8RMN7LdlS4Hd5iRqYrZjACTs_YcX_tzB21RPkBTtQFPQc-DHjq4iGZkJ-JhEJm-mp_7pSTenIRKGzleO2z4nMDW6E8abrVLUDlmrDt0xipUn6jiNx7XGUmbg-aRgqB8_U7TDgKYf-GCSfJLr1eIMyhT-0zuAhOoe1Jl-r6MAa0YI9uzJvs0Zy7nL4q9DmbMPcQzyfMduBwpMv7PTYl8oJy4GwUiXIDf_4y6zYw9FYFbfa1WODlPcSwsqutvFP0fTOFaM3tyHnAksODLxZEkOwejW7ip_O7gkgpoHBnO3gwU_VrMcjSuk7hMYe6UlVQiZEKRk3JIw=w1152-h864-no">
            <a:extLst>
              <a:ext uri="{FF2B5EF4-FFF2-40B4-BE49-F238E27FC236}">
                <a16:creationId xmlns:a16="http://schemas.microsoft.com/office/drawing/2014/main" id="{F33020D6-16AE-444F-8F2E-BE270ECDD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96323"/>
            <a:ext cx="4816699" cy="361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224EDC-637B-4B3C-BE9A-211CE1FCDE1B}"/>
              </a:ext>
            </a:extLst>
          </p:cNvPr>
          <p:cNvSpPr txBox="1"/>
          <p:nvPr/>
        </p:nvSpPr>
        <p:spPr>
          <a:xfrm>
            <a:off x="5868473" y="4801977"/>
            <a:ext cx="52717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capsules in front of mill in the correct order (1-2; 3-4). It is important that the order of the samples follows through the whole process.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84695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EAB70-C007-4D04-B83B-AB2C57A03E09}"/>
              </a:ext>
            </a:extLst>
          </p:cNvPr>
          <p:cNvSpPr txBox="1"/>
          <p:nvPr/>
        </p:nvSpPr>
        <p:spPr>
          <a:xfrm>
            <a:off x="7933893" y="2305159"/>
            <a:ext cx="40077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Secure capsules in grinder by tightening the large screws (</a:t>
            </a:r>
            <a:r>
              <a:rPr lang="en-US" sz="2800" dirty="0">
                <a:solidFill>
                  <a:schemeClr val="accent2"/>
                </a:solidFill>
              </a:rPr>
              <a:t>orange</a:t>
            </a:r>
            <a:r>
              <a:rPr lang="en-US" sz="2800" dirty="0"/>
              <a:t>), followed by the locks (</a:t>
            </a:r>
            <a:r>
              <a:rPr lang="en-US" sz="2800" dirty="0">
                <a:solidFill>
                  <a:schemeClr val="accent1"/>
                </a:solidFill>
              </a:rPr>
              <a:t>blue</a:t>
            </a:r>
            <a:r>
              <a:rPr lang="en-US" sz="2800" dirty="0"/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04154" y="159911"/>
            <a:ext cx="6012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Place Capsules in Mill </a:t>
            </a:r>
          </a:p>
        </p:txBody>
      </p:sp>
      <p:pic>
        <p:nvPicPr>
          <p:cNvPr id="6148" name="Picture 4" descr="https://lh3.googleusercontent.com/PQ3ohelmjYkhHHgfg1BL4nZjMEskj-eCOJrJ8raLriqFfI58_n11rq7-PFAbyP8H8QmOWHMS_q1noum2UkrVCm5sSgnBnuDHnOy16d4JMZl6wf__5FCme5zyvy-j_vpZxnDjAOmXOt9AfoATScEIzatdSTDaUnkkIIsGnGFDSZKTSeU6EiTKHLnRgMIWVCCPnmvMsz9DsoGYdnH9JsDJe2g4PVBxxaUeeyhuLIF-GglAoIaQCdV57X4WvNhR3U4TJoxTMZq3Gr_nzhts5NCFOtrB2swsjYCjZkKCKs0q8bDl6k5KM_cLeRqFg7aais8D_IUXuhfVzIp84w9QekmZZ6HjBwV91UcrASZzrUIcOa6Ap9587nYRqV8ceSpg27mo9jZisADX3W4zrGL1GUkkeonwJwRDv0KQjcydXzohEW_jOOjegoBqIP-h2FrJTcOPOPTZ-UlxYeupt2asIsn4bS1D1ADLMsvrObSk64Ru_acA4DB1rNM7z2CATKQ7szIURcCvNGKhACJyTDNLqBnzsCG3jYDsIAhqB8Ha_l0ww-iuErE53n3TSKLORse41AvTv8g09BsunGsEVrQWVuE_sKRoxUE4PxUUqJCGPxK1GD_Dnwr0HTCtJyB7CYsaW_6VGfIWvPwxX6LpT6JZSyh0g4arRMYs9MVgHu7Xe7XpuhQqVn98j8VYjQ=w1152-h864-no">
            <a:extLst>
              <a:ext uri="{FF2B5EF4-FFF2-40B4-BE49-F238E27FC236}">
                <a16:creationId xmlns:a16="http://schemas.microsoft.com/office/drawing/2014/main" id="{3A064154-7F39-4648-882D-25A484897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3" y="708531"/>
            <a:ext cx="7536049" cy="565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15A0299-81FC-4B75-8950-5033FE560204}"/>
              </a:ext>
            </a:extLst>
          </p:cNvPr>
          <p:cNvSpPr/>
          <p:nvPr/>
        </p:nvSpPr>
        <p:spPr>
          <a:xfrm>
            <a:off x="2254250" y="3206750"/>
            <a:ext cx="412750" cy="5588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C1F14-93A0-4613-8646-71757A565A6E}"/>
              </a:ext>
            </a:extLst>
          </p:cNvPr>
          <p:cNvSpPr/>
          <p:nvPr/>
        </p:nvSpPr>
        <p:spPr>
          <a:xfrm>
            <a:off x="4908549" y="3213100"/>
            <a:ext cx="330677" cy="5588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99ECE6-D240-43FF-B981-19EC0E15788E}"/>
              </a:ext>
            </a:extLst>
          </p:cNvPr>
          <p:cNvSpPr/>
          <p:nvPr/>
        </p:nvSpPr>
        <p:spPr>
          <a:xfrm>
            <a:off x="5289550" y="3213100"/>
            <a:ext cx="329185" cy="4953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431EBF-D55B-42B6-8E45-FDB472066C2C}"/>
              </a:ext>
            </a:extLst>
          </p:cNvPr>
          <p:cNvSpPr/>
          <p:nvPr/>
        </p:nvSpPr>
        <p:spPr>
          <a:xfrm>
            <a:off x="1887441" y="3181350"/>
            <a:ext cx="329185" cy="4953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07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EAB70-C007-4D04-B83B-AB2C57A03E09}"/>
              </a:ext>
            </a:extLst>
          </p:cNvPr>
          <p:cNvSpPr txBox="1"/>
          <p:nvPr/>
        </p:nvSpPr>
        <p:spPr>
          <a:xfrm>
            <a:off x="6980856" y="1038712"/>
            <a:ext cx="40077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Close grinder lid and lock into place.</a:t>
            </a:r>
          </a:p>
          <a:p>
            <a:pPr marL="514350" indent="-514350">
              <a:buAutoNum type="arabicPeriod"/>
            </a:pPr>
            <a:r>
              <a:rPr lang="en-US" sz="2800" dirty="0"/>
              <a:t>Press the start button when you are ready.</a:t>
            </a:r>
          </a:p>
          <a:p>
            <a:pPr marL="514350" indent="-514350">
              <a:buAutoNum type="arabicPeriod"/>
            </a:pPr>
            <a:r>
              <a:rPr lang="en-US" sz="2800" b="1" dirty="0"/>
              <a:t>Listen carefully for sounds that indicate a capsule coming loose. </a:t>
            </a:r>
            <a:r>
              <a:rPr lang="en-US" sz="2800" b="1" dirty="0">
                <a:solidFill>
                  <a:srgbClr val="FF0000"/>
                </a:solidFill>
              </a:rPr>
              <a:t>Press the Stop button or flip the on/off switch to stop the machine.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04154" y="159911"/>
            <a:ext cx="6012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Starting the Mill</a:t>
            </a:r>
          </a:p>
        </p:txBody>
      </p:sp>
      <p:pic>
        <p:nvPicPr>
          <p:cNvPr id="8194" name="Picture 2" descr="https://lh3.googleusercontent.com/pi5eOw_YQxD6F2NL-9MN0PhlFHIYw2KnpTsvRwSCnvDvIbJg6MrH8UKczWweKOQcFp7FUZyq-4S1rCyWZSGD_7Lb2-YNhzmRzYZKeLsuloFgcC6IIhCkXH52SGTev9jiSvc8vtNWjKlVgRYTdpwRL-5aPXuAaSa20QuHYFb_ccTU5qrJiit1Z5oaWJI0ETPUaFWN5Be72uaIkqz1qphns3Azv5WbDkroVfpR4x4BixMWtuR7ukNxarS0z6KiCB-QKaw1zF1dNDc3w1ccHUtpAQe-2nMK_vVugx2xD0YXFmdUr2x_YUZuWuUALNP_qqqvas6aBVd2JpvbagnxZgIhGwPmIp3ESIRxgxgmJPOKELCkx6nshMiKfUz9PfpICl84F_oyc9QVpk8OvUgKXY0mPWOyV2bVTa3nZSfREiskaIClh23HnbN1G9bwc_uyEJgYKRiuRDaNTnrdc-mAhbJ9KAKUuHrW8inmYisyFkLdvd0oBJC3zeErnkByV85gzqEODemMnIxd2nc-8z3thfiPOLc1s6VNUeKlsMVydcCYgDOAzlczB1hlYPOk_KHAw8wjbqVUS6hBQHIk0Z8MZ5A_lRdrRKiBgR2kbDnmE_Fv0ux98S8FB4rVMabM3C3LCCXvJAX3m6fdcrhHPcqPcuKJJiAvsUGnwP3RtSOAsXCJBcF38CCU0ar4tA=w1218-h913-no">
            <a:extLst>
              <a:ext uri="{FF2B5EF4-FFF2-40B4-BE49-F238E27FC236}">
                <a16:creationId xmlns:a16="http://schemas.microsoft.com/office/drawing/2014/main" id="{A209BA4D-7EC2-4D49-A22A-CD9D822E40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34"/>
          <a:stretch/>
        </p:blipFill>
        <p:spPr bwMode="auto">
          <a:xfrm>
            <a:off x="204154" y="911775"/>
            <a:ext cx="6012049" cy="57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185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EAB70-C007-4D04-B83B-AB2C57A03E09}"/>
              </a:ext>
            </a:extLst>
          </p:cNvPr>
          <p:cNvSpPr txBox="1"/>
          <p:nvPr/>
        </p:nvSpPr>
        <p:spPr>
          <a:xfrm>
            <a:off x="7980132" y="2670869"/>
            <a:ext cx="40077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When the machine has stopped running, place capsules on table in front of correct sample bags.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165517" y="168388"/>
            <a:ext cx="6012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After Mill is Done Running</a:t>
            </a:r>
          </a:p>
        </p:txBody>
      </p:sp>
      <p:pic>
        <p:nvPicPr>
          <p:cNvPr id="10242" name="Picture 2" descr="https://lh3.googleusercontent.com/t_qsxAn8N80s7XdZKF2DRtQbugepUwAJxsVjMt8S_6BnqMt1FIL92KmUQ3tvKIJ4lEOp8LgCqvy2IdU_bZalnpL-EkMb8vGzWp2nJFPle-Ki-qb4AUUjMyl-Rf0c-O_E8Qs9Lv4aQVUjBZPeKaiW2yAGgBSWSItsRXrzKpEbcXQZ3frJeWTwm1_JtQTaWXS7ZXUmorUh4XMhbvxfkIpB5Z802ySUViDSjoOyrzsQq4ZGMc4KzaOfE87MfkJTRwRxthCRgIbg5YHKoCcBGS4csANskeme1p2px3HddDti2W-JWoJuhsLNnUvVWFFdbyxsOljfqknCVYmTo8Chtipt2q1H3vTqINIzANHc2PpVO39B8tsahSfTU2pl9DKiKa0RRNHxqxwQaGjI_lOKpLG-_ydMd-_kT3nuCHRAe2dC9v618BF237OnC9RnfF83knhkKmh3y79n-rxhLqgJ38WMDgGAX1Qw-crWeCBdfJQm7Fx7qZDgAyHRUSqogzJvQ_mubepnpG7n9ufcfEZkmJkVbdehKUkNC19bKjgEj0EhOEQ5CoKcZQ42CdV4XF_J6YUGxN-tuBvBNt6OZ4Uq3JVJbYu8LuQQhdICHZRAnWRPdClTcGK0lbVBrCfo8wKPlVMaffM93xHt-ksuQqHLrmBVmUqb08w_zvi5k5__xjPXR1GTgMkD9iKxGg=w1218-h913-no">
            <a:extLst>
              <a:ext uri="{FF2B5EF4-FFF2-40B4-BE49-F238E27FC236}">
                <a16:creationId xmlns:a16="http://schemas.microsoft.com/office/drawing/2014/main" id="{414FDBCC-345B-4F5A-9F5E-0E0485290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4" y="794014"/>
            <a:ext cx="7429992" cy="556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999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04154" y="159911"/>
            <a:ext cx="6012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Inspecting Sample</a:t>
            </a:r>
          </a:p>
        </p:txBody>
      </p:sp>
      <p:pic>
        <p:nvPicPr>
          <p:cNvPr id="11266" name="Picture 2" descr="https://lh3.googleusercontent.com/uPEKAOxWojS4e4tEzW0XjhcN4ZgHiLkc-1K8A0KqGHgSQgrZz2ANTN-UD0CfUynqVw9uVq0Gz1jcjDBuFNQfMiWLvMMQlHiw5dhpeVjQP1wVlGMVhuIvOi8bKpJo6iIYSnDMNYpEp44-AC9mHHbXWHW_MYqJAqHKS2TDKShhffNNfSATmDHtV6qa5Y1D6ABk7igqnuST37Su2b8E89NiA2xAMDyoql2YFuaQnH0mQkAANd4pTFxcQTtkcsAHDpv-EQuhzDHNRBl5bw47bz5EVjgIum6zvx5zubXjkLNdczydvNld8Rj1x-JjsQis9b2Yvu5piLLsygPW4XHZQzVRJMl8Hze9tgigyiUHzeYX_z1h3hR8Tv57lRFJati1lSZvxJCSEED-jjXHzQ7TAvr3QN9eYlxgIytniZrEBGwNT6Csztp0O8Z9ITKKo_Ric8WFjobXuQEeUhMvvZ-2CVl-UBJKHCb4RNENalmc6tgoJ_WQd7aFwNEm5geOC0kTqXFO91uOWXN6TgGmdRh_lGussYj0qg0DKthZ7mp5DR6-I7ecxEZAkma89iuWTh0bNRXsiDqIH_DOC4f5VZHQcEWqGSYCIpMtem0uh-P-ZyZPf5reguxQAmvfHnpjbT4_ZFbT8LF7r3dVImTnscuBKuh584GENDlqZ-4PyPHy1SjmNGlKCAeUKwvPpg=w685-h913-no">
            <a:extLst>
              <a:ext uri="{FF2B5EF4-FFF2-40B4-BE49-F238E27FC236}">
                <a16:creationId xmlns:a16="http://schemas.microsoft.com/office/drawing/2014/main" id="{9E54B73F-74ED-49D2-ABCF-BB09C795E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45" y="683131"/>
            <a:ext cx="4632581" cy="617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F59BED-CC30-4014-9E74-05C6E068847B}"/>
              </a:ext>
            </a:extLst>
          </p:cNvPr>
          <p:cNvSpPr txBox="1"/>
          <p:nvPr/>
        </p:nvSpPr>
        <p:spPr>
          <a:xfrm>
            <a:off x="5851301" y="2025777"/>
            <a:ext cx="601204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Unscrew top of capsule.</a:t>
            </a:r>
          </a:p>
          <a:p>
            <a:pPr marL="514350" indent="-514350">
              <a:buAutoNum type="arabicPeriod"/>
            </a:pPr>
            <a:r>
              <a:rPr lang="en-US" sz="2800" dirty="0"/>
              <a:t>The sample should now b a fine powder with the consistency between flour and sugar.</a:t>
            </a:r>
          </a:p>
          <a:p>
            <a:pPr marL="971550" lvl="1" indent="-514350">
              <a:buAutoNum type="arabicPeriod"/>
            </a:pPr>
            <a:r>
              <a:rPr lang="en-US" sz="2000" dirty="0"/>
              <a:t>If sample is the wrong consistency, place back in mill to grind again.</a:t>
            </a:r>
          </a:p>
          <a:p>
            <a:pPr marL="514350" indent="-514350">
              <a:buAutoNum type="arabicPeriod"/>
            </a:pPr>
            <a:r>
              <a:rPr lang="en-US" sz="2800" dirty="0"/>
              <a:t>Use tweezers to remove the metal ball from the capsule.</a:t>
            </a:r>
          </a:p>
        </p:txBody>
      </p:sp>
    </p:spTree>
    <p:extLst>
      <p:ext uri="{BB962C8B-B14F-4D97-AF65-F5344CB8AC3E}">
        <p14:creationId xmlns:p14="http://schemas.microsoft.com/office/powerpoint/2010/main" val="3630178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04154" y="159911"/>
            <a:ext cx="6012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Pouring Sample into Scintillation Vial</a:t>
            </a:r>
          </a:p>
        </p:txBody>
      </p:sp>
      <p:pic>
        <p:nvPicPr>
          <p:cNvPr id="12290" name="Picture 2" descr="https://lh3.googleusercontent.com/BGDjcsE2-QItFmUyMXITzMe0A12e8qX-xC7H2vyb5h4SWpVwLxQptZcEzB1AY8TbGkf6v_20PAxyneth7j52WWoxzx77e-9Jnjqg-1zFJVwjfMiHDrF1iZiRBK5U47xxJv7RkPrilN-q1FKMISFDN2ydWqrEpOwz2VuRxaHpC6btfikduL0-uqFoeZOuhFIngjP3l-Z2vnKE3gGXdcDUcMJN1amO_2T0av_6DPd7yLjxfInYBvnsxSotwgCngllW8vIViwZPuah9_eb1Xf2jMqGH-OzHYWr4sPzYNUJFqWdT0XfLdi12am1JmoYC-6b9qdaRtuzk41lzKgFeJK1ZP69PdNGqpHLjcTgjB7Z5eP1GTIpK2NdGU9XYOs5GfVqIueB2a4mYqqfAVmYkJI-0a83IUO7qV2PgPntRop-GxFm_LK8M-BoO7dkPBQJEdAUhheyQJyCMCbS0AOMzN50P1SULEY2HZ4YhGv-2kQ2No9f0kFK6_AvvBG6SGqc3An6lt4FbFt8qW1FNPCSo2Sina4GD8fJc9v-_-X8b64JSlMBTiUe8ssEbiRE8J660hDBh8RnoJyJYkDHmgjXe2oJzyLI6UesteaLJvb-3h9MouFfzeiuzm5MlGg9TRrtuI9j_InhF9ixNvFtOcxw_przQdokusOiDRM-bXkDEQn29mBu_tGYYEalZ4w=w1218-h913-no">
            <a:extLst>
              <a:ext uri="{FF2B5EF4-FFF2-40B4-BE49-F238E27FC236}">
                <a16:creationId xmlns:a16="http://schemas.microsoft.com/office/drawing/2014/main" id="{F3473B39-92D9-429E-948F-747D1F2431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4" r="25473"/>
          <a:stretch/>
        </p:blipFill>
        <p:spPr bwMode="auto">
          <a:xfrm>
            <a:off x="857637" y="779352"/>
            <a:ext cx="4705082" cy="517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4F3A89-F26E-4426-911A-5A7509A83985}"/>
              </a:ext>
            </a:extLst>
          </p:cNvPr>
          <p:cNvSpPr txBox="1"/>
          <p:nvPr/>
        </p:nvSpPr>
        <p:spPr>
          <a:xfrm>
            <a:off x="1020769" y="5936978"/>
            <a:ext cx="445609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Unscrew top of sample vial and place funnel into opening.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292" name="Picture 4" descr="https://lh3.googleusercontent.com/SbswCsYdqKcfqf0VOORfyWUmWlmIEMJZeJjXl_w9b-zm421LmMamTT50HrXiSs4DTJz_2hkpUzpysHI6CzBlHy9nJJdqDSpyLBM2yZFaoBs8WQD6Nq5hubNRV4dUc2krB5zsZgNuSJsFDUAv3yTsSYKa__RluqpK1FzNp8ynBuC_OdOK4mc8BqAYJ2wdrQnZbdyEEydHRBuW61rCN3X6Vr3dzdB9p6XJiCVRkkloQhjcVBYC-TNkh2GUKVLlTRcWXLmDaDyypEseY3qY5RFgcngJ2uKgUXPUG2unO5DEpRdZp7VME6GrlDF5Tl_MHjY3WjaT3kiK7kZRjEdEJnuKumFJREPyEkawMg6WnOBLdg2H9YKXNMkcg3qh-3TnHc1C78P6GWsODgLgvWSt1xn6s7o4DUR_JEW9ruTyTquqYMIlbKmQ7E4J_Qgys4FMtdgrE4N5ySUReWA9MHjzJ184mY32n0m39GS96FPPGM9bwI7XS9z9ANmz-qiPu4QvWXcOuXRPuoiagnJHeeJiQPkqJVoZuCohNu755D2bHTSdO3N6ah_KXtzjvGzr5h940kQ2yHwojWISC-C6kUHiU-5rkXIPUsRxP8jEwawoZ6GLWhXAuKjKhLPkpzQUdOvmKGULiqrD5xFCgTWSzRs_CeKrt6mhMyBn5NrktFMtdSIAH6DqDIFYo9VA-w=w1218-h913-no">
            <a:extLst>
              <a:ext uri="{FF2B5EF4-FFF2-40B4-BE49-F238E27FC236}">
                <a16:creationId xmlns:a16="http://schemas.microsoft.com/office/drawing/2014/main" id="{D254E8D8-ED2E-452E-8985-CFA1D85197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r="19408"/>
          <a:stretch/>
        </p:blipFill>
        <p:spPr bwMode="auto">
          <a:xfrm>
            <a:off x="6761407" y="774280"/>
            <a:ext cx="4552442" cy="517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5F181C-5F0B-4ADE-A9A0-65CD5AF7B0EF}"/>
              </a:ext>
            </a:extLst>
          </p:cNvPr>
          <p:cNvSpPr txBox="1"/>
          <p:nvPr/>
        </p:nvSpPr>
        <p:spPr>
          <a:xfrm>
            <a:off x="6855854" y="5910677"/>
            <a:ext cx="474371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Carefully pour powder from capsule into sample vial (w/ two hands).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64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29913" y="147032"/>
            <a:ext cx="7690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Brush Sample into Scintillation Vial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4F3A89-F26E-4426-911A-5A7509A83985}"/>
              </a:ext>
            </a:extLst>
          </p:cNvPr>
          <p:cNvSpPr txBox="1"/>
          <p:nvPr/>
        </p:nvSpPr>
        <p:spPr>
          <a:xfrm>
            <a:off x="126881" y="4597277"/>
            <a:ext cx="399980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paintbrush to gather particles that did not come out at first.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342" name="Picture 6" descr="https://lh3.googleusercontent.com/nr-_r22eQnC8lsX4FkkCKFzjP9PqEQ7zAhUDNtzOyQMlcNaP4M8WkBTuComSvLzo3SelzKZJKSFRlTxBrLZmUr7NoDmgDEWH51IrTXNpi1nSQyl16BaKqSCTiBCSJPdbwCKdr27RE1FDh_6XG-N_HrSIB4Q6qRsdEFtpvRHqzVbei_ai5flukFCQApp_e0-6kb8B95SNoUKhv116c7_-C1EI-G3IW37w42W8AWnaLsMm49A_ZPUrMq4fup_pzaEUhkPEHBvhekP95psI8P0fb5oXw0BOIEgoNPeCH0XN-poqzjFXA4nZF4VNDEyR1_uiMRCgF86sdU7h7N6EF2BgTuukujVidZ2QQhoWmEwbhTzlMQa27RELXbqKc6lrcbs2x9e9sPfEnC-gCquhyUHfv9OuO8d8Wyq82XfyUePJFBLFEqkgr3AUpQQwq1Xoc2TUljcUw3-7_w5vOxmxTaM9W6_s5W4VT0j6eeCNqjlXolIevbPmVehDkZLiCGAwFpZpgrf2eXAvyaI6tNsXzakPaenfXdY1qsVA22o2dar946d9zaGezfwH2Wf_wtbGbA7S70sgbH9X9rR3CVMYQ8XjvXtxXiNDO1wfHhAGnMVUTf56fCOOE_X89E4mboj1lfP0ruqLuKlU0H4X1FmQz457tyYqyRyGJ2g1kstgbtsM9VwAM-IOMWxWVQ=w1218-h913-no">
            <a:extLst>
              <a:ext uri="{FF2B5EF4-FFF2-40B4-BE49-F238E27FC236}">
                <a16:creationId xmlns:a16="http://schemas.microsoft.com/office/drawing/2014/main" id="{DA9C4E85-C549-42F1-8273-CCC408640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2" y="1097832"/>
            <a:ext cx="4573908" cy="3428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https://lh3.googleusercontent.com/bwfuPwAlL1Q8_IwhaJD_DN818Box5ZIqltcvGJNEoyX-pzDJn1yzdNExNq6Jpb5dPriKmLsLJXtViE3gn16LRia3niN6VSPkzaUDrp-0MJ2jQNvx4lAhgCtBod_CdKeqYh19-f7hoZnfzbKu7C8dyZkyDuI7JTSqKZI6z4j7dhl3Q-Np5tFecfEWgdTHp8HaC6IiSJyiulwGeQOMphoAY2gvUduv3yEDWGKaAWtB2916U7fvSqpRixbSpY0o49CwGlW6IPzDD4LSV009-xnnmsGR6N3jdMUY3LiwNSTk6cW22Gk3iukETBbxD_PvGBTE7cFoNy29eVD1fGxSMDFlRdt_F5P3_YJAoiD3OJ2bQeztBr0qxxi7W77y8pWZgNZ8cWkpX2UdbcqitoDiM0m3-BMLYleSK8UcuGbrihDeUMp-mVqDG0-V9NHke87eQdouWGXdz74Jt4IJXM5aUIERMEQevb2mjyg1LCgf_mkPZmH1dAZ0DoY9n-ztaQadisZZd2emDmubkCYNuzxSrV0vXK07Omq2sqQdx9UTQFAGaE3v3TpFDXj8sZwvyORHSMXCctypKzRnm-vAYhTtSCoq14nvSyHLTGT48y6thoqDtOFw4izf31JecvBSqjHzj4A69SEj3ls4RIVrUz9m5HRlfomMEx5cLUyrbPxVbsbl9ihUdrtF4O90_w=w685-h913-no">
            <a:extLst>
              <a:ext uri="{FF2B5EF4-FFF2-40B4-BE49-F238E27FC236}">
                <a16:creationId xmlns:a16="http://schemas.microsoft.com/office/drawing/2014/main" id="{8A48BA85-8EE8-47EC-8114-64A3437FF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166" y="945591"/>
            <a:ext cx="3427954" cy="456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6" name="Picture 10" descr="https://lh3.googleusercontent.com/aleFagFMjUPM01TgGyAAEPzCS87vPgVRwNLSF_6DtaOp6bEbZAQqGx7X_ECaNYPXiK_WSCrocQ4OhZ74ImKk5gTMgspWLNgJu1bGrNEz_0_hrmT8aC5VSSTDALvGZsTwEA4-EiYfGiDLwELTa_opDf-bIGUMu1mOIFQZb3tjwo6aCucFHVwnDhnpTNnkQS8pmwJQzC5mestia2HiN76QX27lT-xeAnCg4EzFSlzveDW2TP4JRN3uA2nICQr308h_aAijoWVbbRMvEd9s1YmJbPcYxVkRLn8_Xx6-qRQMGkrfTcIPil4Di9RvEw-iS5a90Nsd_oxNkMjLlzmfhVjT9EaR7p7rtPK62jhwhRcMVN33dX1Gn5R13ySMXEYCVpvNC9GTRLcO-LtWZgVDir59y4ohGeCkRB2yFHeEfeN8o3CuQMN3e-sc_TChTJrg_9BgR-L51Pke5AYHmGbYDM1a0GpKD96e_nix8wGnItwiraLD0kZnTqg5at9kZnUwvk6QuMPhbh4p57DKzChU8qdHzdFxBsnAYpJWJdkhrEepqIu6M1dL11TzOL_qjbYzZSbdGVTJ2RBuBVgjYfADnTytFmBip_TPfApxzszxynx9xX6JahWIv_MdyDsrhpguF-1n7oDeBLBNO7lGlJWNz9VuooL3lp2ds4Pj1CjHs8KNJIPWZT1te26wRA=w685-h913-no">
            <a:extLst>
              <a:ext uri="{FF2B5EF4-FFF2-40B4-BE49-F238E27FC236}">
                <a16:creationId xmlns:a16="http://schemas.microsoft.com/office/drawing/2014/main" id="{A7FB6611-98FD-4F1D-8091-8160302D2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376" y="945591"/>
            <a:ext cx="3427955" cy="456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26C1F7-BFC8-429E-9DCC-9FAAD2BCCCEF}"/>
              </a:ext>
            </a:extLst>
          </p:cNvPr>
          <p:cNvSpPr txBox="1"/>
          <p:nvPr/>
        </p:nvSpPr>
        <p:spPr>
          <a:xfrm>
            <a:off x="4822220" y="5501908"/>
            <a:ext cx="358128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paintbrush to wipe sample on lid into vial.</a:t>
            </a:r>
            <a:endParaRPr lang="en-US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0EA00-FC0E-4AB0-BE8D-56B4ED85A393}"/>
              </a:ext>
            </a:extLst>
          </p:cNvPr>
          <p:cNvSpPr txBox="1"/>
          <p:nvPr/>
        </p:nvSpPr>
        <p:spPr>
          <a:xfrm>
            <a:off x="8495497" y="5501908"/>
            <a:ext cx="358128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paintbrush to wipe sample from funnel into the vial.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468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29913" y="147032"/>
            <a:ext cx="7690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Brush Sample into Scintillation Vial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0EA00-FC0E-4AB0-BE8D-56B4ED85A393}"/>
              </a:ext>
            </a:extLst>
          </p:cNvPr>
          <p:cNvSpPr txBox="1"/>
          <p:nvPr/>
        </p:nvSpPr>
        <p:spPr>
          <a:xfrm>
            <a:off x="7907628" y="1088276"/>
            <a:ext cx="35812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Securely cap scintillation vial and mark the tracking sheet with the number corresponding to the amount of sample available:</a:t>
            </a:r>
          </a:p>
          <a:p>
            <a:endParaRPr lang="en-US" sz="2000" dirty="0"/>
          </a:p>
          <a:p>
            <a:r>
              <a:rPr lang="en-US" sz="2000" dirty="0"/>
              <a:t>0 = no sample</a:t>
            </a:r>
          </a:p>
          <a:p>
            <a:r>
              <a:rPr lang="en-US" sz="2000" dirty="0"/>
              <a:t>1 = barely any sample</a:t>
            </a:r>
          </a:p>
          <a:p>
            <a:r>
              <a:rPr lang="en-US" sz="2000" dirty="0"/>
              <a:t>2 = plentiful sample</a:t>
            </a:r>
          </a:p>
          <a:p>
            <a:endParaRPr lang="en-US" sz="2000" dirty="0"/>
          </a:p>
          <a:p>
            <a:r>
              <a:rPr lang="en-US" sz="2000" dirty="0"/>
              <a:t>Place sample in tray when done.</a:t>
            </a:r>
            <a:endParaRPr lang="en-US" dirty="0"/>
          </a:p>
          <a:p>
            <a:endParaRPr lang="en-US" dirty="0"/>
          </a:p>
        </p:txBody>
      </p:sp>
      <p:pic>
        <p:nvPicPr>
          <p:cNvPr id="15362" name="Picture 2" descr="https://lh3.googleusercontent.com/yq-UPYiOkTsaC3hEGV6r6_m2DA2yf05GCW_KvU7zeks5kTI2cYKXR-mzEIY-lKSkNJfW5wdNP8Hv24bfla_tI-YaVNiE-VficPCUDxVlB-a2eLnJ7vzely6HR_MZkDDLQaOxYI5Kw3O4e75u-CwIcav2wDBRStGaNMDKcyf1Cn85CLmVGnmmPWMayRE4mHxKId9k9Amx2yPrjrqS5qRqsjdhx6H0VazCAbpx-pKNVzbcNO-9sqY5WYsb6YfLU1uMPJJ1vKFW5i-JkI7RlF6QEbUiP5Hbtm5ybc0jlBxHFiSUtgasbhlsgl_5rZiEMf_0W9QyJO--Vp7qnHOZ_HjIAQzprwLQfgGOnphqKRQ1Va_fNf6QxoG6fUP0zQdkASU6_g7vJz3DmMAMzpAktJUz807qoXbMPuJHrsliFCM6uAFVzNFYDupn_T-O_kjVKL2k_VMhi6KsuGqQH7d2ACxSLFceBIpvppsDm3lwNbTmsLL_axP-GXPgA0AhjamT6uZ_UjpmUyhm3fHBPhZO156ONrG2q1pgHILSV0o3QGiTW1UhcLsD3QzJS1nInVduUF_75rAjgSBIYwOspWqtvhV00K3jq8ElgUfpvuSc9d4fQgGbeSfRn7STo0Jt44Ocla5aXr5NMTtqQtAa6fYUKQNJQ8w3aHHcStzhWXFT_KsGuHPjqtPPyBopOA=w685-h913-no">
            <a:extLst>
              <a:ext uri="{FF2B5EF4-FFF2-40B4-BE49-F238E27FC236}">
                <a16:creationId xmlns:a16="http://schemas.microsoft.com/office/drawing/2014/main" id="{04638358-7414-4D44-876C-4EB3492ED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55982" y="0"/>
            <a:ext cx="5145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961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17034" y="159911"/>
            <a:ext cx="7690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Thoroughly clean capsule with DI water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0EA00-FC0E-4AB0-BE8D-56B4ED85A393}"/>
              </a:ext>
            </a:extLst>
          </p:cNvPr>
          <p:cNvSpPr txBox="1"/>
          <p:nvPr/>
        </p:nvSpPr>
        <p:spPr>
          <a:xfrm>
            <a:off x="222996" y="4893971"/>
            <a:ext cx="358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Squirt DI water into capsule</a:t>
            </a:r>
          </a:p>
        </p:txBody>
      </p:sp>
      <p:pic>
        <p:nvPicPr>
          <p:cNvPr id="16386" name="Picture 2" descr="https://lh3.googleusercontent.com/B9Z9TH3y2Q4FQFFhqYQnsPjvG0nUuUATHsv_c09Og199k5IBrnFJPjy1vljLAHA2s1dLhg9zpSj9CpvgVxwjlOo0BTB72ApGok1n9uVYAXh9xpNEJKkcleHXiPq4EE8qzJC8fI1N16kuF3nZsusKL3B6g3Ebie5Vs7mFcdwU8glan9bUu8SH19uqgCIH1gSke-QZjLOZpscAq452QBpDx_SoGWnZAbGu4hvfDWjqox07LFotEmEMZQPiUviwKRTeyJ2kqcbaGHQg_KEzxY3cSmJuqfXEFcwWAT8eZNw3oJWORpStVIw1JuO6JfBIW1b2VP-_UPNXSVoRtSh3noWqDWbVG-bpKTo9l_9N-zctgavLG5gNAym4g3c4yFqwtu7I-ia0RH3TWk7QRvtMcQLqf6uNbXZVLneQTRMpzlvEM8DTszQneP7Jw_LZ4Yv5PszYpGHpBwC9rHnR604C_wBK2f4i5HqGb9bsOT9UaQ3SjkQff-VeoGL9IZ3l4OWKj738_gYPg_TFA-EAegKJng34_37CTK7KBm3MsWztBy6ugFyTm7wLfOVEP3Q4SAbdDpSA0SMp6A3sidDd3tKfMvwKNhawVVL2GClTdo3bj_SIUcvE0DG34WBKWH4i3sGoTRbduOFEYeDvmp-ApvteD1nPR_bi7klIOi5tLH3F5sHnL6ROPNSceld6Nw=w1218-h913-no">
            <a:extLst>
              <a:ext uri="{FF2B5EF4-FFF2-40B4-BE49-F238E27FC236}">
                <a16:creationId xmlns:a16="http://schemas.microsoft.com/office/drawing/2014/main" id="{401D50DB-9721-46C5-B691-7F2499BED0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8" r="14183"/>
          <a:stretch/>
        </p:blipFill>
        <p:spPr bwMode="auto">
          <a:xfrm>
            <a:off x="229913" y="1150364"/>
            <a:ext cx="3773510" cy="379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https://lh3.googleusercontent.com/HUEVlDgiqqz2r-FWY_C4GKPzLBuQxML3lOz6LBci9I396ICkZHL7ccL6qTt4ZQrCOWSslv6EwgmQ_2n6dA7QQZJg6AtuCXtdDfG3SB07Eoo2armKpVXPrLXhexfJf4uQejEsRLLfwdh28sGxEmYCETM42EdE2SIY7o8_1ePjxRuSMrOjwYv9AlDur59sDu2pg9ahx2jIAtHaEKJSxpiPVLoMrFMyTb3m6qUTfhIXS2VQp97IcuvQUEdLsYaGg52zD9RxrvbroUSL04TJPBWhyluYqtOYUGrGkupVbpFHOnTM0VgYW-cBfKP9sAh8W5me5l4_w-BaEaml20pD2cimpGTC4lI5fpt2SmctKOruAATXi-SO14ULcJ0R8ac8XpmO3MoEFzz4TOepzUeBGeqfDu7bgpvYrCWfSBarH4NiuraKWu2mbHmJJUAWrfokcocyF5J7at7KVP_D50wI4knzsx9XjDrIA3OxYezBhHeBhcshpsxozViZeexuer1zYim6ZjsU4KCSbvncdKBj2QwXyqV3rmLz0cSRB6zCa3QucLgqqDryN2a8ATsM2Tqpb0kxEuDU35p6cCf5JSo4KICTnGhRxgUIwcLdeGfmGrnVBtB3nj6tOvamU0Y23VJG0PG6Cqbjete5A5MQp5nk0_jazNuni1VTFKofJXsD_hG2BvXUH76ywVeLvA=w1218-h913-no">
            <a:extLst>
              <a:ext uri="{FF2B5EF4-FFF2-40B4-BE49-F238E27FC236}">
                <a16:creationId xmlns:a16="http://schemas.microsoft.com/office/drawing/2014/main" id="{869B6D8E-5130-4456-B9B1-48CE16507F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26" r="38916"/>
          <a:stretch/>
        </p:blipFill>
        <p:spPr bwMode="auto">
          <a:xfrm>
            <a:off x="4250025" y="820421"/>
            <a:ext cx="2717442" cy="469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8B04D4-45D4-419E-B52A-DE90282C1EBC}"/>
              </a:ext>
            </a:extLst>
          </p:cNvPr>
          <p:cNvSpPr txBox="1"/>
          <p:nvPr/>
        </p:nvSpPr>
        <p:spPr>
          <a:xfrm>
            <a:off x="4198509" y="5445462"/>
            <a:ext cx="2897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 ball into and top on capsule. Shake up and down to wash thoroughly. </a:t>
            </a:r>
          </a:p>
        </p:txBody>
      </p:sp>
      <p:pic>
        <p:nvPicPr>
          <p:cNvPr id="16392" name="Picture 8" descr="https://lh3.googleusercontent.com/Zj6k1ZzQsHNId3oHcBqZkUuM_as_0K7-wT7ATu2hzcE30j8BXHffSFAJMSI4RajPwGG7vpJgVcL8KiGzfu72EWayKr2sNRUJxF87YZFWoY3-sA-6U0ZpOOmtGa14dWd5Eh9WM3oEKsGayGYU8VkzCdS2LsQ7Z5zDTAo02gaYP7GqiH6qN8ZGnjBzFmO2fX047L7gXjEk7KgwaF3OGVRH-I_L-Z4PlgV64npdDQ_XcMWInxRF0nME505zNUH6cin10Yv9yWO-SRm5-njXE4b-aJgzOA5lPWm75w-bAVT8Pm9pof15jlYu7gj7Au-GWcsVNv_ptZEAjmt7ND9E9UBM96LoOUgzmqT8HgpXYCFIfslx54tB35Z1lPvAIx7cwLSVAahBnN1-SC93JYsmhyvRAndGagFlx6VsB5EurnRcfcACKaA7XrqLyGQdKVKERsVOrxeTZTv-GzHnDG2KWl9KDlAF0949TBlFXDYPxA4tKf9_sbTU75vQlzphSLG4g-Mc5GFd8nQnGapaucSa4Ai8yPwKfph88gaoqyiOQN_D6F96olh7P57aQOVu7s9TLlnIuzYA1jXbCwkIr28fA7pwh-027Qh7buigg8qwK_seTFXCzBJm-dvjSHByMizBnV00szZYBH7RZHieTEZPcU5LvbW9w79iYFM__PmwoSGq1JBvpVPuTHFCGg=w1218-h913-no">
            <a:extLst>
              <a:ext uri="{FF2B5EF4-FFF2-40B4-BE49-F238E27FC236}">
                <a16:creationId xmlns:a16="http://schemas.microsoft.com/office/drawing/2014/main" id="{9B48C54F-EAD4-4834-8880-9A85444F8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515" y="1367967"/>
            <a:ext cx="4769451" cy="357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604FF4-A8F1-402F-B813-EB5D31AF4E6E}"/>
              </a:ext>
            </a:extLst>
          </p:cNvPr>
          <p:cNvSpPr txBox="1"/>
          <p:nvPr/>
        </p:nvSpPr>
        <p:spPr>
          <a:xfrm>
            <a:off x="7205515" y="4983797"/>
            <a:ext cx="4763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ball with tweezers and pour liquid into discard container.</a:t>
            </a:r>
          </a:p>
        </p:txBody>
      </p:sp>
    </p:spTree>
    <p:extLst>
      <p:ext uri="{BB962C8B-B14F-4D97-AF65-F5344CB8AC3E}">
        <p14:creationId xmlns:p14="http://schemas.microsoft.com/office/powerpoint/2010/main" val="4216525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17034" y="159911"/>
            <a:ext cx="7690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Thoroughly clean capsule with DI water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0EA00-FC0E-4AB0-BE8D-56B4ED85A393}"/>
              </a:ext>
            </a:extLst>
          </p:cNvPr>
          <p:cNvSpPr txBox="1"/>
          <p:nvPr/>
        </p:nvSpPr>
        <p:spPr>
          <a:xfrm>
            <a:off x="275853" y="5093700"/>
            <a:ext cx="5381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½ piece of paper towel to clean/dry capsule completely. </a:t>
            </a:r>
          </a:p>
        </p:txBody>
      </p:sp>
      <p:pic>
        <p:nvPicPr>
          <p:cNvPr id="17410" name="Picture 2" descr="https://lh3.googleusercontent.com/K10RJ3ReE34gi0Go9bY6mKi5qDUnkPABXChT675rjmpFVyGHmX3UoPxU2BoVeu8AnjUlvK9_nMScoT38QecYmGHlw7ojKBcZnbyYfXcL4gGrOz28SJSGYqzyZxqxdc2vIpqRg4ipzHiy8B911adlc13uA241Ymgpn2rNaZ86_5DK0OesjtHxW3QONQ1tk5_ynytNLUHE3LQa4r41EeBMuRfX9_AV_3ft2jyuFy_0wIXeQnT8B76KSZHpPBPm0OBx9sXFUNlouomI5k132j1PiLbHhDbs1VcqBLqv6WU_2oOiYW2gioBP68EHmajgWXVcnpZGEbc3UFY4Vg0oMnAjGASbiF9afhZD_1Gsu7wkzRpNCffFsvON7fCNfDOWRYqZZo5-Z78eXLLK5sbYQPHsQaOFhy7LOYpwBt56nErGrVzbFOaLnxBtMV3IEDSfc591Zq0JudP2gwSLDJ1U1U3YZFMsYcbUnkPB_39EFysXPDp4tnGSs-M4Hf50NIVVe2m1rCan1uINKbpWFhhzWekswQL6oS77vG1GPZDEiPfFBFgUo39T7OX0W2kdMiNHeSd7z4waXF9LDSGyJnUzSS2cSPg3kWDGQbQ4swB2G8L-R9M_I0P4jcZpovuE3_jxvacJegbHeL8WnLpLK6ZhQnVkNQa2QEddv4nKjmNEHX47AecBv1zzwVRldA=w1218-h913-no">
            <a:extLst>
              <a:ext uri="{FF2B5EF4-FFF2-40B4-BE49-F238E27FC236}">
                <a16:creationId xmlns:a16="http://schemas.microsoft.com/office/drawing/2014/main" id="{DC2CEDD5-9E46-49B0-AA4B-206F6BA9DA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17"/>
          <a:stretch/>
        </p:blipFill>
        <p:spPr bwMode="auto">
          <a:xfrm>
            <a:off x="250096" y="1059680"/>
            <a:ext cx="4965848" cy="402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3230B8-87A4-4419-A82A-9B75D2F8C30A}"/>
              </a:ext>
            </a:extLst>
          </p:cNvPr>
          <p:cNvSpPr txBox="1"/>
          <p:nvPr/>
        </p:nvSpPr>
        <p:spPr>
          <a:xfrm>
            <a:off x="6096000" y="5093700"/>
            <a:ext cx="628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Wipe clean/dry the metal ball and top to the capsule.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792B65-4410-45E2-B678-CA4E17508462}"/>
              </a:ext>
            </a:extLst>
          </p:cNvPr>
          <p:cNvSpPr txBox="1"/>
          <p:nvPr/>
        </p:nvSpPr>
        <p:spPr>
          <a:xfrm>
            <a:off x="880993" y="5854627"/>
            <a:ext cx="10558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If any moisture is left over in the capsule, the next sample will become a thick paste and will be useless!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7AB0DE-F95C-409A-9EB9-2BBAE738CDA0}"/>
              </a:ext>
            </a:extLst>
          </p:cNvPr>
          <p:cNvGrpSpPr/>
          <p:nvPr/>
        </p:nvGrpSpPr>
        <p:grpSpPr>
          <a:xfrm>
            <a:off x="5632356" y="1065094"/>
            <a:ext cx="6387924" cy="4041484"/>
            <a:chOff x="5632356" y="1065094"/>
            <a:chExt cx="6387924" cy="4041484"/>
          </a:xfrm>
          <a:solidFill>
            <a:schemeClr val="tx1">
              <a:lumMod val="85000"/>
              <a:lumOff val="15000"/>
            </a:schemeClr>
          </a:solidFill>
        </p:grpSpPr>
        <p:pic>
          <p:nvPicPr>
            <p:cNvPr id="17412" name="Picture 4" descr="https://lh3.googleusercontent.com/7k2RlxorZVhmd3Bo8Ie2NK5ny1rPLmCJxp9c0H9D8L6W7ln8Ykcs9u3wFqj_TSZ7eDejDRKeWv-lcKmFEH2ACQCluylxEe6aFaKkVj7zovw5rH8LdM5xaUFUupD4LsjutHjUQxjacf5TSu5ZTN77X_qg7ATeCSCbW5xRVK13MFZ2G_KLWJea7TiYNXGOnXCwMHv775Oa-oiK8YF-czuJL5CNNnKV1aN9Hm1TCOnRYkvk8lJMk46u1rDyfKYHmpYRXKwjtAGFpGF3E9zdRMzHQFlPDWbTh1pkdAJpUr7U3j52N7SZZ1HaYlNTtCIVOs4Kj27ehSapSCCWh3RVFu3km1ANCn0Cikf8-lfK8n2pQHjnjOQkdjCN3g30bW11bxsh1YLzIuka-iRmM6XIlc7bfVX3XcbxGadRjlQ4RKMj94Ofwvz88dxGFG7H6CHJ0TjtCam1mT-wHk9I0huJP62GD_m42tuQvYA_lr1psdI131TiKHpiAlEBRFW7IoVwyPf9KISxh9svCbKO_FCGRnANp6Ow8_uKQ0rEk5biBdiW_9J6Aiub8msTiC-SGcaIA03mtuRQbx-rvi1Jv-iqfIs4m24rnIrH0HF0iXWLjiWhMV4SbPZVBtA6yH0kJgjMnljlWpXShk67OYvm_isJgqxnGEtEmifpcg95GCWfosCP14r_55Zwj4lWww=w1218-h913-no">
              <a:extLst>
                <a:ext uri="{FF2B5EF4-FFF2-40B4-BE49-F238E27FC236}">
                  <a16:creationId xmlns:a16="http://schemas.microsoft.com/office/drawing/2014/main" id="{410CF2D8-3373-4AC5-82C3-CA5B36A619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87" r="29798"/>
            <a:stretch/>
          </p:blipFill>
          <p:spPr bwMode="auto">
            <a:xfrm>
              <a:off x="5632356" y="1072557"/>
              <a:ext cx="3116688" cy="4034021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414" name="Picture 6" descr="https://lh3.googleusercontent.com/05yBZMEA-4kNM4EAwEwg0Vj3nMKIOM34i3_heRCElG1cl11cKLi14o0zB8TcF-cr1iHTxDb4__PWi8BgCQriobhBgXREc5F6vOuDyxqDIhSvz1vjYArzzF_iiz5KEDC5xPAF2NJ7vCZCVqq_UNGq7jSRaRT-BuY7-wPemAKCFZtpp3IDLOrAgnUcxSOKE8xLDk6B0N8PZKppfgBS-TRyjH2446oadSm4fLd-_0tm1ECMlZFwLUUgFS_S1f5viYy3vqgUyajAyZsNCLRR7CxDGbRiCbYckqn17x0-_GgnBXbHZXmLeBQPLAbiKHl-z8TdQIKKSoMytOnLgkonB_iDa2z9T5_vXepF2MblkXgoyP6yVlCAO5Pz7r0wLIxYb91z-FzNElfWH1k0JlU-vbDbtPt5HMTUpMH7KFqipqgoxc5GSjgHxiR7NnNvZuKnn58VAwPvcfIHyHFWwVshpBIVhFs-_SgEFW8o9CfUMwAzqIs3OWd1KGpEh8mEG0DKzXhJ4ZUesheFWfM612J1PXF-bEUKCaESMOGPX-mY4Gdk33VSsyt4cZMKX-ix8FLUUcyVobdVbWpiYCA_wxD9JCWUQPqb5TMmcm6WsxxsJ_vMMGhxbnJdueaYNFv18iO4anYxP9AkKwhwExiZ8yTH4SQOBHj3r3I6tGeNPVSliRYlCOhBbzHzr9IFmA=w1218-h913-no">
              <a:extLst>
                <a:ext uri="{FF2B5EF4-FFF2-40B4-BE49-F238E27FC236}">
                  <a16:creationId xmlns:a16="http://schemas.microsoft.com/office/drawing/2014/main" id="{5BE4627B-9778-4FD7-849C-870A98AD33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97" r="31888"/>
            <a:stretch/>
          </p:blipFill>
          <p:spPr bwMode="auto">
            <a:xfrm>
              <a:off x="8903592" y="1065094"/>
              <a:ext cx="3116688" cy="4034021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97517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5873F2-797A-4A86-B51A-B188E9E3AF33}"/>
              </a:ext>
            </a:extLst>
          </p:cNvPr>
          <p:cNvSpPr txBox="1"/>
          <p:nvPr/>
        </p:nvSpPr>
        <p:spPr>
          <a:xfrm>
            <a:off x="217034" y="185669"/>
            <a:ext cx="7690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Clean brush and funnel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0EA00-FC0E-4AB0-BE8D-56B4ED85A393}"/>
              </a:ext>
            </a:extLst>
          </p:cNvPr>
          <p:cNvSpPr txBox="1"/>
          <p:nvPr/>
        </p:nvSpPr>
        <p:spPr>
          <a:xfrm>
            <a:off x="262974" y="4784609"/>
            <a:ext cx="3703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 brush by brushing it against the corner of the table repeatedly.</a:t>
            </a:r>
          </a:p>
        </p:txBody>
      </p:sp>
      <p:pic>
        <p:nvPicPr>
          <p:cNvPr id="18434" name="Picture 2" descr="https://lh3.googleusercontent.com/jrsavQ3mB-i_Mdu4Okt9Im-RW8WzU0f8zj25nh6SQ_24_Uk1q-zadMYGY2fnfhdK3l-meBbWFjGYfimkIASxlOji_uyxYANT4-tDTR6mSCVhLfKDCVXspu7sj6sb3hlvKww0I5CIxdY6--JmdEpSFx_ZOe0s0a7kCPvta4nLBqfMVc1dOtA6IH3yOcPYAFR1jKnbNpU70syxLwKHbw8St8nzR4u54FO1Blh1ebvKWHqGRCJQick8JlWcyt3iSiK4emG28csTq7mZS7gk3tND86nSELQAJiGB0G4Yi40Z8NbfHmOa7I84RzskB7OAHGFcU8YXpryZLj64lzaxqayn23pVl6nbqGA9mdbbLOXvWwoKHQ-djggMyJaBNruRuLkCvQWb6k8GmiJT0x8UOd8ha5CPzsltSvyfWccVcNwTvDHucQ1PTC_LbdwMtfACPllw6Em2GH9ijDe5A5ONRBuWpxJBtPLYaqOA9Bf2v4-B5hXKU363n3oZ1XhirbWJI_I4BHTmWw29LM4BJngQpaesfz66DLcgczxBh0eKVCjuZQ_J7hU3MPuQZJBxD6tnulm0rp0Tj1S8edpz1j5kwa251L9y-AN08TxFE6ql62qmBbsJ8WudpQSy1Qi7L3YYNdDJq8XQvIqnRagrUxrvsjr_Fzo5ONJMQcDgtzMvxr0TLVdmhwDHuiQzpQ=w1218-h913-no">
            <a:extLst>
              <a:ext uri="{FF2B5EF4-FFF2-40B4-BE49-F238E27FC236}">
                <a16:creationId xmlns:a16="http://schemas.microsoft.com/office/drawing/2014/main" id="{48747BFF-C559-4893-82DC-AD327F4CB8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87"/>
          <a:stretch/>
        </p:blipFill>
        <p:spPr bwMode="auto">
          <a:xfrm>
            <a:off x="275854" y="950818"/>
            <a:ext cx="3845386" cy="385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https://lh3.googleusercontent.com/zg_Gf49wPu_yUsUcdovEdZJrlth_J7ZXO-UgMGeoaNQA_UMAu7MvVvayEG-AbHueeJQLrstQgbSsQ4SRtLVPNBfef77dtaQOVGRGrQW8WtIWIjzRUT6EIiH-ZKN6mbjcTzamNyt2T7G_-HYY1GLf7Fu9pc9yirtOE68hIfJ-56SvFIYYnX5Vf5UVh4gzJUBQbHhD8J-DHD1ZVXGEBAy98qcDJaVzgX5xGpcRFjA5M34XGtaWH_Ew6NPoI8Q8MJJGGfFdX7lxqfr_QXPl6RqJHhly20aHHiYv2CH_8P6UhZJ8-nfP7pQssCfizGbkty5TX8p3nqsy3k6J9lGHcF7-NFm3rD8oiM1M6bGL0-q9HF1XinO8C3Ydh9UDM6XajDFJQpVy5sSutWQRX0pXUb9RZs6Vn15Q5bvRmUikymjzVtnTF6r9jeU99Dvy7JnYpHdBg54WYHku5mCsCPtQ83Dc7e6eHaVkujKZ45zyHPz5FZd-ypfv9jkyZOTbWD6EWoZIrZxrjc0LNxFdavl-JEV8fs_3E4XNOrr-tieB0fMLUDZ6VY2wuidMVkry49xikMsFfUHaz20iJ-yJdXO9AZS9gOspdUy18oIK8gX6kIrlX3AB4METnv28K01Bk-IeCdw28m7svLCZ5I2cdYdPN-FLINjIjBm-i_3lX4Cg0pQ49mv-stDQTy1Idg=w1218-h913-no">
            <a:extLst>
              <a:ext uri="{FF2B5EF4-FFF2-40B4-BE49-F238E27FC236}">
                <a16:creationId xmlns:a16="http://schemas.microsoft.com/office/drawing/2014/main" id="{A5348347-26CE-492F-930C-0C2CE8A11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4" r="10575"/>
          <a:stretch/>
        </p:blipFill>
        <p:spPr bwMode="auto">
          <a:xfrm>
            <a:off x="4443206" y="976576"/>
            <a:ext cx="4146998" cy="3853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https://lh3.googleusercontent.com/dvdBUDnVHk6Wy23TC8-rMi_tiDbcr2hTOjzcvzaqy1ztEtwZtL37uxxkr14T_WpNArJmo6BZoo_eJ067_JkTFgYxYkTcFkRSR68psRIhc2pdOkzN9upf49pH3nsyIochNc2Bacs50EWkPzDPJWhOzj-PQJ5YozZX84i8hS5JkrtL_9O1k9eNBezucRGU6SVB7PHzIt8YofqWQtYMgBdc3JaJvI0QMQWletCueT2hrD_oM2gXsbDuuwAeoGcj7a0Hz8R-RlJtBDXrbQZnxRgljIhVOSCr6CK89GG3nZBSNiGbH598SQuYz63YkCv8QjGVVp3YLbFz9kOonl0pREODUr560ZIwruFrLXfQxdYvXKlEzPm_LGRjzvYhz3cP_2MKiLt4uUybxkCcdT99J2Fh0COOOwwGcxWnrF2GcBW_xuqErkMErQ9B4Y_Ug6BGwQAflWRw8RkRPfPUATEPxtTQCHjsHNoryq_AwS8L8Djw5Zi2-KHkfTsE8BhSMtblmVkgOAVBh_QXWJFDIf_PgTHYWkR5jIXSlHCBnHg8N5IamaUN2rZ2H1RoetjOrVaqQ8taUTA6yFqLalsRYPigIqCnn31b1uMAqzXSwspDVQKvBH9QxTBuoa5cjoyOd-Clgbs7w1Krdm7zVUBn0NEZuA6TNz8QANQ9F6DmrMP4u0hgeEQG9bNpNKcZ9g=w1218-h913-no">
            <a:extLst>
              <a:ext uri="{FF2B5EF4-FFF2-40B4-BE49-F238E27FC236}">
                <a16:creationId xmlns:a16="http://schemas.microsoft.com/office/drawing/2014/main" id="{4A85E802-DAAD-4C45-88C9-409A67036F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6" r="18879"/>
          <a:stretch/>
        </p:blipFill>
        <p:spPr bwMode="auto">
          <a:xfrm>
            <a:off x="8912170" y="1407848"/>
            <a:ext cx="2761998" cy="336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F594BC-20D1-4D7A-ACFD-EF39DF14E3BE}"/>
              </a:ext>
            </a:extLst>
          </p:cNvPr>
          <p:cNvSpPr txBox="1"/>
          <p:nvPr/>
        </p:nvSpPr>
        <p:spPr>
          <a:xfrm>
            <a:off x="4430327" y="4816700"/>
            <a:ext cx="3703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 funnel by rinsing the inside with DI water into discard container.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E616-0F26-4CB9-8E16-A30999A243E6}"/>
              </a:ext>
            </a:extLst>
          </p:cNvPr>
          <p:cNvSpPr txBox="1"/>
          <p:nvPr/>
        </p:nvSpPr>
        <p:spPr>
          <a:xfrm>
            <a:off x="8899291" y="4769684"/>
            <a:ext cx="2761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Wipe funnel clean/dry with a Kimwipe. </a:t>
            </a:r>
          </a:p>
        </p:txBody>
      </p:sp>
    </p:spTree>
    <p:extLst>
      <p:ext uri="{BB962C8B-B14F-4D97-AF65-F5344CB8AC3E}">
        <p14:creationId xmlns:p14="http://schemas.microsoft.com/office/powerpoint/2010/main" val="490754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8469</TotalTime>
  <Words>705</Words>
  <Application>Microsoft Office PowerPoint</Application>
  <PresentationFormat>Widescreen</PresentationFormat>
  <Paragraphs>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Biogeochemistry C:N Shoot Grinding Procedure Figures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Biogeochemistry Shoot Grinding Procedure Figures</dc:title>
  <dc:creator>Dunn, Adam</dc:creator>
  <cp:lastModifiedBy>Dunn, Adam</cp:lastModifiedBy>
  <cp:revision>34</cp:revision>
  <dcterms:created xsi:type="dcterms:W3CDTF">2019-11-12T15:45:20Z</dcterms:created>
  <dcterms:modified xsi:type="dcterms:W3CDTF">2019-11-18T12:54:37Z</dcterms:modified>
</cp:coreProperties>
</file>