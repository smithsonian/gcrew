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9" autoAdjust="0"/>
    <p:restoredTop sz="94660"/>
  </p:normalViewPr>
  <p:slideViewPr>
    <p:cSldViewPr snapToGrid="0">
      <p:cViewPr varScale="1">
        <p:scale>
          <a:sx n="72" d="100"/>
          <a:sy n="72" d="100"/>
        </p:scale>
        <p:origin x="81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08A0720-08A6-471F-9FE0-2548F108A0F0}" type="datetimeFigureOut">
              <a:rPr lang="en-US" smtClean="0"/>
              <a:t>8/8/2022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3803696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8A0720-08A6-471F-9FE0-2548F108A0F0}" type="datetimeFigureOut">
              <a:rPr lang="en-US" smtClean="0"/>
              <a:t>8/8/2022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1730472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8A0720-08A6-471F-9FE0-2548F108A0F0}" type="datetimeFigureOut">
              <a:rPr lang="en-US" smtClean="0"/>
              <a:t>8/8/2022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3039389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08A0720-08A6-471F-9FE0-2548F108A0F0}" type="datetimeFigureOut">
              <a:rPr lang="en-US" smtClean="0"/>
              <a:t>8/8/2022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3504111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08A0720-08A6-471F-9FE0-2548F108A0F0}" type="datetimeFigureOut">
              <a:rPr lang="en-US" smtClean="0"/>
              <a:t>8/8/2022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1000396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08A0720-08A6-471F-9FE0-2548F108A0F0}" type="datetimeFigureOut">
              <a:rPr lang="en-US" smtClean="0"/>
              <a:t>8/8/2022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3326257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8A0720-08A6-471F-9FE0-2548F108A0F0}" type="datetimeFigureOut">
              <a:rPr lang="en-US" smtClean="0"/>
              <a:t>8/8/2022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4225916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8A0720-08A6-471F-9FE0-2548F108A0F0}" type="datetimeFigureOut">
              <a:rPr lang="en-US" smtClean="0"/>
              <a:t>8/8/2022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1810332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8A0720-08A6-471F-9FE0-2548F108A0F0}" type="datetimeFigureOut">
              <a:rPr lang="en-US" smtClean="0"/>
              <a:t>8/8/2022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533989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8A0720-08A6-471F-9FE0-2548F108A0F0}" type="datetimeFigureOut">
              <a:rPr lang="en-US" smtClean="0"/>
              <a:t>8/8/2022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3236763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8A0720-08A6-471F-9FE0-2548F108A0F0}" type="datetimeFigureOut">
              <a:rPr lang="en-US" smtClean="0"/>
              <a:t>8/8/2022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4146482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8A0720-08A6-471F-9FE0-2548F108A0F0}" type="datetimeFigureOut">
              <a:rPr lang="en-US" smtClean="0"/>
              <a:t>8/8/2022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44F133-6CF3-4863-87FB-2D5F2D5FCDE5}" type="slidenum">
              <a:rPr lang="en-US" smtClean="0"/>
              <a:t>‹#›</a:t>
            </a:fld>
            <a:endParaRPr lang="en-US"/>
          </a:p>
        </p:txBody>
      </p:sp>
    </p:spTree>
    <p:extLst>
      <p:ext uri="{BB962C8B-B14F-4D97-AF65-F5344CB8AC3E}">
        <p14:creationId xmlns:p14="http://schemas.microsoft.com/office/powerpoint/2010/main" val="445550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48384" y="830120"/>
            <a:ext cx="3645723" cy="2311734"/>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Copy from “toolkit” folder the “Data Entry Templates” folder specific folder to an experiment, data set and year. Next copy the two SAS QAQC programs from the “Data” folder in the most recently analyzed data year. Place in folder for the new year being analyzed.</a:t>
            </a:r>
          </a:p>
        </p:txBody>
      </p:sp>
      <p:sp>
        <p:nvSpPr>
          <p:cNvPr id="7" name="Rounded Rectangle 6"/>
          <p:cNvSpPr/>
          <p:nvPr/>
        </p:nvSpPr>
        <p:spPr>
          <a:xfrm>
            <a:off x="8585591" y="830118"/>
            <a:ext cx="3427776" cy="2108389"/>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(6) Lock </a:t>
            </a:r>
            <a:r>
              <a:rPr lang="en-US" u="sng" dirty="0">
                <a:solidFill>
                  <a:schemeClr val="tx1"/>
                </a:solidFill>
              </a:rPr>
              <a:t>all</a:t>
            </a:r>
            <a:r>
              <a:rPr lang="en-US" dirty="0">
                <a:solidFill>
                  <a:schemeClr val="tx1"/>
                </a:solidFill>
              </a:rPr>
              <a:t> files in this step (e.g. files beginning with “1-”) as read only. These files remain in the folder associated with a given experiment, year, and data type, but data will be copied to “active” files in the next step. </a:t>
            </a:r>
          </a:p>
        </p:txBody>
      </p:sp>
      <p:sp>
        <p:nvSpPr>
          <p:cNvPr id="11" name="Rounded Rectangle 10"/>
          <p:cNvSpPr/>
          <p:nvPr/>
        </p:nvSpPr>
        <p:spPr>
          <a:xfrm>
            <a:off x="4403567" y="4550824"/>
            <a:ext cx="3497558" cy="1938579"/>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 Edit data in original Excel file, add comments to data cell in the Excel file on changes made, save as CSV, and rerun SAS. If flagged observations are unresolved add note to error CSV file. </a:t>
            </a:r>
          </a:p>
        </p:txBody>
      </p:sp>
      <p:cxnSp>
        <p:nvCxnSpPr>
          <p:cNvPr id="16" name="Straight Arrow Connector 15"/>
          <p:cNvCxnSpPr>
            <a:cxnSpLocks/>
            <a:stCxn id="4" idx="2"/>
            <a:endCxn id="59" idx="0"/>
          </p:cNvCxnSpPr>
          <p:nvPr/>
        </p:nvCxnSpPr>
        <p:spPr>
          <a:xfrm>
            <a:off x="1971246" y="3141854"/>
            <a:ext cx="19635" cy="7299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6186023" y="4030204"/>
            <a:ext cx="467116" cy="369332"/>
          </a:xfrm>
          <a:prstGeom prst="rect">
            <a:avLst/>
          </a:prstGeom>
          <a:noFill/>
        </p:spPr>
        <p:txBody>
          <a:bodyPr wrap="none" rtlCol="0">
            <a:spAutoFit/>
          </a:bodyPr>
          <a:lstStyle/>
          <a:p>
            <a:r>
              <a:rPr lang="en-US" dirty="0"/>
              <a:t>fail</a:t>
            </a:r>
          </a:p>
        </p:txBody>
      </p:sp>
      <p:sp>
        <p:nvSpPr>
          <p:cNvPr id="68" name="TextBox 67"/>
          <p:cNvSpPr txBox="1"/>
          <p:nvPr/>
        </p:nvSpPr>
        <p:spPr>
          <a:xfrm>
            <a:off x="7587278" y="3610795"/>
            <a:ext cx="596638" cy="369332"/>
          </a:xfrm>
          <a:prstGeom prst="rect">
            <a:avLst/>
          </a:prstGeom>
          <a:noFill/>
        </p:spPr>
        <p:txBody>
          <a:bodyPr wrap="none" rtlCol="0">
            <a:spAutoFit/>
          </a:bodyPr>
          <a:lstStyle/>
          <a:p>
            <a:r>
              <a:rPr lang="en-US" dirty="0"/>
              <a:t>pass</a:t>
            </a:r>
          </a:p>
        </p:txBody>
      </p:sp>
      <p:sp>
        <p:nvSpPr>
          <p:cNvPr id="76" name="TextBox 75"/>
          <p:cNvSpPr txBox="1"/>
          <p:nvPr/>
        </p:nvSpPr>
        <p:spPr>
          <a:xfrm>
            <a:off x="3165177" y="68259"/>
            <a:ext cx="5663345" cy="400110"/>
          </a:xfrm>
          <a:prstGeom prst="rect">
            <a:avLst/>
          </a:prstGeom>
          <a:noFill/>
        </p:spPr>
        <p:txBody>
          <a:bodyPr wrap="none" rtlCol="0">
            <a:spAutoFit/>
          </a:bodyPr>
          <a:lstStyle/>
          <a:p>
            <a:r>
              <a:rPr lang="en-US" sz="2000" b="1" dirty="0"/>
              <a:t>GCREW Workflow from Data Entry to Public Posting</a:t>
            </a:r>
          </a:p>
        </p:txBody>
      </p:sp>
      <p:sp>
        <p:nvSpPr>
          <p:cNvPr id="59" name="Rounded Rectangle 58"/>
          <p:cNvSpPr/>
          <p:nvPr/>
        </p:nvSpPr>
        <p:spPr>
          <a:xfrm>
            <a:off x="168019" y="3871787"/>
            <a:ext cx="3645723" cy="2617617"/>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Enter data into Excel template. Once harvest data is entered copy data from the three communities to “Compiled” worksheet. Save “Data” worksheet (or “Compiled” harvest data) to plain format CSV for input to SAS. Metadata and any other worksheets will be lost. </a:t>
            </a:r>
          </a:p>
        </p:txBody>
      </p:sp>
      <p:sp>
        <p:nvSpPr>
          <p:cNvPr id="95" name="Rounded Rectangle 94"/>
          <p:cNvSpPr/>
          <p:nvPr/>
        </p:nvSpPr>
        <p:spPr>
          <a:xfrm>
            <a:off x="4691952" y="3464191"/>
            <a:ext cx="2915894" cy="43048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Run QAQC SAS program</a:t>
            </a:r>
          </a:p>
        </p:txBody>
      </p:sp>
      <p:cxnSp>
        <p:nvCxnSpPr>
          <p:cNvPr id="98" name="Elbow Connector 97"/>
          <p:cNvCxnSpPr>
            <a:cxnSpLocks/>
            <a:stCxn id="59" idx="3"/>
            <a:endCxn id="75" idx="1"/>
          </p:cNvCxnSpPr>
          <p:nvPr/>
        </p:nvCxnSpPr>
        <p:spPr>
          <a:xfrm flipV="1">
            <a:off x="3813742" y="1777177"/>
            <a:ext cx="549420" cy="3403419"/>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cxnSpLocks/>
            <a:stCxn id="95" idx="2"/>
            <a:endCxn id="11" idx="0"/>
          </p:cNvCxnSpPr>
          <p:nvPr/>
        </p:nvCxnSpPr>
        <p:spPr>
          <a:xfrm>
            <a:off x="6149899" y="3894671"/>
            <a:ext cx="2447" cy="6561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Elbow Connector 116"/>
          <p:cNvCxnSpPr>
            <a:cxnSpLocks/>
            <a:stCxn id="95" idx="3"/>
            <a:endCxn id="7" idx="1"/>
          </p:cNvCxnSpPr>
          <p:nvPr/>
        </p:nvCxnSpPr>
        <p:spPr>
          <a:xfrm flipV="1">
            <a:off x="7607846" y="1884313"/>
            <a:ext cx="977745" cy="1795118"/>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Rounded Rectangle 4">
            <a:extLst>
              <a:ext uri="{FF2B5EF4-FFF2-40B4-BE49-F238E27FC236}">
                <a16:creationId xmlns:a16="http://schemas.microsoft.com/office/drawing/2014/main" id="{92F03ACD-F202-47ED-B80A-3B14B99DDC5E}"/>
              </a:ext>
            </a:extLst>
          </p:cNvPr>
          <p:cNvSpPr/>
          <p:nvPr/>
        </p:nvSpPr>
        <p:spPr>
          <a:xfrm>
            <a:off x="4363162" y="830120"/>
            <a:ext cx="3573475" cy="1894113"/>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Edit SAS QAQC programs for new input/output file paths and names. SAS adds new variables needed to match the “active” file and create separate output files if needed. SAS program has details. </a:t>
            </a:r>
          </a:p>
        </p:txBody>
      </p:sp>
      <p:cxnSp>
        <p:nvCxnSpPr>
          <p:cNvPr id="118" name="Straight Arrow Connector 117">
            <a:extLst>
              <a:ext uri="{FF2B5EF4-FFF2-40B4-BE49-F238E27FC236}">
                <a16:creationId xmlns:a16="http://schemas.microsoft.com/office/drawing/2014/main" id="{B253E3D4-7EA7-4A5E-90D6-CFE969F5B859}"/>
              </a:ext>
            </a:extLst>
          </p:cNvPr>
          <p:cNvCxnSpPr>
            <a:cxnSpLocks/>
            <a:stCxn id="75" idx="2"/>
            <a:endCxn id="95" idx="0"/>
          </p:cNvCxnSpPr>
          <p:nvPr/>
        </p:nvCxnSpPr>
        <p:spPr>
          <a:xfrm flipH="1">
            <a:off x="6149899" y="2724233"/>
            <a:ext cx="1" cy="73995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A1B5C6B6-C851-4B58-B3A0-8823A664EE60}"/>
              </a:ext>
            </a:extLst>
          </p:cNvPr>
          <p:cNvCxnSpPr>
            <a:cxnSpLocks/>
            <a:stCxn id="7" idx="2"/>
            <a:endCxn id="145" idx="0"/>
          </p:cNvCxnSpPr>
          <p:nvPr/>
        </p:nvCxnSpPr>
        <p:spPr>
          <a:xfrm flipH="1">
            <a:off x="10295651" y="2938507"/>
            <a:ext cx="3828" cy="5683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5" name="Rounded Rectangle 6">
            <a:extLst>
              <a:ext uri="{FF2B5EF4-FFF2-40B4-BE49-F238E27FC236}">
                <a16:creationId xmlns:a16="http://schemas.microsoft.com/office/drawing/2014/main" id="{6C1A553C-11B1-41A2-B389-8E980FB9E084}"/>
              </a:ext>
            </a:extLst>
          </p:cNvPr>
          <p:cNvSpPr/>
          <p:nvPr/>
        </p:nvSpPr>
        <p:spPr>
          <a:xfrm>
            <a:off x="8891440" y="3506820"/>
            <a:ext cx="2808422" cy="153134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(7) Open a new window and proceed to “0-GCReW Archive” then “Archived Data”</a:t>
            </a:r>
          </a:p>
        </p:txBody>
      </p:sp>
    </p:spTree>
    <p:extLst>
      <p:ext uri="{BB962C8B-B14F-4D97-AF65-F5344CB8AC3E}">
        <p14:creationId xmlns:p14="http://schemas.microsoft.com/office/powerpoint/2010/main" val="1585971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32365" y="713293"/>
            <a:ext cx="3645723" cy="1094362"/>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(8) In “archived data” folder, move last archived files (with publication dates) to “retired” folder. </a:t>
            </a:r>
          </a:p>
        </p:txBody>
      </p:sp>
      <p:sp>
        <p:nvSpPr>
          <p:cNvPr id="5" name="Rounded Rectangle 4"/>
          <p:cNvSpPr/>
          <p:nvPr/>
        </p:nvSpPr>
        <p:spPr>
          <a:xfrm>
            <a:off x="798620" y="4296114"/>
            <a:ext cx="3325091" cy="1512431"/>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(10) In new file create new sheet named with year; copy new data into this sheet. Also append data to the master sheet named “data”. </a:t>
            </a:r>
          </a:p>
        </p:txBody>
      </p:sp>
      <p:sp>
        <p:nvSpPr>
          <p:cNvPr id="7" name="Rounded Rectangle 6"/>
          <p:cNvSpPr/>
          <p:nvPr/>
        </p:nvSpPr>
        <p:spPr>
          <a:xfrm>
            <a:off x="4741957" y="3968319"/>
            <a:ext cx="2982686" cy="2592279"/>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(13) Save a copy of the “active file” ending in “(published [date])” for public posting. Delete spreadsheets with year-specific data. Remove comments and cell fill colors. Lock read only. Pat will Post.</a:t>
            </a:r>
          </a:p>
        </p:txBody>
      </p:sp>
      <p:sp>
        <p:nvSpPr>
          <p:cNvPr id="11" name="Rounded Rectangle 10"/>
          <p:cNvSpPr/>
          <p:nvPr/>
        </p:nvSpPr>
        <p:spPr>
          <a:xfrm>
            <a:off x="4741956" y="1953522"/>
            <a:ext cx="2982685" cy="1658993"/>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(12) Lock as read only. </a:t>
            </a:r>
            <a:r>
              <a:rPr lang="en-US" u="sng" dirty="0">
                <a:solidFill>
                  <a:schemeClr val="tx1"/>
                </a:solidFill>
              </a:rPr>
              <a:t>All edits subsequent to the last step are done to this file</a:t>
            </a:r>
            <a:r>
              <a:rPr lang="en-US" dirty="0">
                <a:solidFill>
                  <a:schemeClr val="tx1"/>
                </a:solidFill>
              </a:rPr>
              <a:t> as the traceable record of editing done after transfer.</a:t>
            </a:r>
          </a:p>
        </p:txBody>
      </p:sp>
      <p:cxnSp>
        <p:nvCxnSpPr>
          <p:cNvPr id="16" name="Straight Arrow Connector 15"/>
          <p:cNvCxnSpPr>
            <a:cxnSpLocks/>
            <a:stCxn id="4" idx="2"/>
            <a:endCxn id="59" idx="0"/>
          </p:cNvCxnSpPr>
          <p:nvPr/>
        </p:nvCxnSpPr>
        <p:spPr>
          <a:xfrm flipH="1">
            <a:off x="2455226" y="1807655"/>
            <a:ext cx="1" cy="6288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3475895" y="-18276"/>
            <a:ext cx="5663345" cy="400110"/>
          </a:xfrm>
          <a:prstGeom prst="rect">
            <a:avLst/>
          </a:prstGeom>
          <a:noFill/>
        </p:spPr>
        <p:txBody>
          <a:bodyPr wrap="none" rtlCol="0">
            <a:spAutoFit/>
          </a:bodyPr>
          <a:lstStyle/>
          <a:p>
            <a:r>
              <a:rPr lang="en-US" sz="2000" b="1" dirty="0"/>
              <a:t>GCREW Workflow from Data Entry to Public Posting</a:t>
            </a:r>
          </a:p>
        </p:txBody>
      </p:sp>
      <p:sp>
        <p:nvSpPr>
          <p:cNvPr id="59" name="Rounded Rectangle 58"/>
          <p:cNvSpPr/>
          <p:nvPr/>
        </p:nvSpPr>
        <p:spPr>
          <a:xfrm>
            <a:off x="762992" y="2436490"/>
            <a:ext cx="3384468" cy="1230789"/>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(9) </a:t>
            </a:r>
            <a:r>
              <a:rPr lang="en-US" b="1" dirty="0">
                <a:solidFill>
                  <a:schemeClr val="tx1"/>
                </a:solidFill>
              </a:rPr>
              <a:t>For raw data</a:t>
            </a:r>
            <a:r>
              <a:rPr lang="en-US" dirty="0">
                <a:solidFill>
                  <a:schemeClr val="tx1"/>
                </a:solidFill>
              </a:rPr>
              <a:t>, unlock file named “(active file)” and “save as” with new end year. Move old copy of active file to “retired”.</a:t>
            </a:r>
          </a:p>
        </p:txBody>
      </p:sp>
      <p:cxnSp>
        <p:nvCxnSpPr>
          <p:cNvPr id="126" name="Straight Arrow Connector 125"/>
          <p:cNvCxnSpPr>
            <a:cxnSpLocks/>
            <a:stCxn id="59" idx="2"/>
            <a:endCxn id="5" idx="0"/>
          </p:cNvCxnSpPr>
          <p:nvPr/>
        </p:nvCxnSpPr>
        <p:spPr>
          <a:xfrm>
            <a:off x="2455226" y="3667279"/>
            <a:ext cx="5940" cy="6288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Rounded Rectangle 94"/>
          <p:cNvSpPr/>
          <p:nvPr/>
        </p:nvSpPr>
        <p:spPr>
          <a:xfrm>
            <a:off x="4741956" y="723586"/>
            <a:ext cx="2982686" cy="945416"/>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(11) Update rows 1-4 in the metadata with new years and change log. </a:t>
            </a:r>
          </a:p>
        </p:txBody>
      </p:sp>
      <p:cxnSp>
        <p:nvCxnSpPr>
          <p:cNvPr id="98" name="Elbow Connector 97"/>
          <p:cNvCxnSpPr>
            <a:cxnSpLocks/>
            <a:stCxn id="5" idx="3"/>
            <a:endCxn id="95" idx="1"/>
          </p:cNvCxnSpPr>
          <p:nvPr/>
        </p:nvCxnSpPr>
        <p:spPr>
          <a:xfrm flipV="1">
            <a:off x="4123711" y="1196294"/>
            <a:ext cx="618245" cy="3856036"/>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cxnSpLocks/>
            <a:stCxn id="95" idx="2"/>
            <a:endCxn id="11" idx="0"/>
          </p:cNvCxnSpPr>
          <p:nvPr/>
        </p:nvCxnSpPr>
        <p:spPr>
          <a:xfrm>
            <a:off x="6233299" y="1669002"/>
            <a:ext cx="0" cy="28452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F23205DD-A5C8-4C7C-9364-06DF5C1E1C53}"/>
              </a:ext>
            </a:extLst>
          </p:cNvPr>
          <p:cNvCxnSpPr>
            <a:cxnSpLocks/>
            <a:stCxn id="11" idx="2"/>
            <a:endCxn id="7" idx="0"/>
          </p:cNvCxnSpPr>
          <p:nvPr/>
        </p:nvCxnSpPr>
        <p:spPr>
          <a:xfrm>
            <a:off x="6233299" y="3612515"/>
            <a:ext cx="1" cy="3558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Rounded Rectangle 94">
            <a:extLst>
              <a:ext uri="{FF2B5EF4-FFF2-40B4-BE49-F238E27FC236}">
                <a16:creationId xmlns:a16="http://schemas.microsoft.com/office/drawing/2014/main" id="{B38A442B-9A44-4A3E-BB69-0669044CBC6C}"/>
              </a:ext>
            </a:extLst>
          </p:cNvPr>
          <p:cNvSpPr/>
          <p:nvPr/>
        </p:nvSpPr>
        <p:spPr>
          <a:xfrm>
            <a:off x="8427669" y="752091"/>
            <a:ext cx="2982686" cy="813095"/>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(14) Create CSV versions of files for published data</a:t>
            </a:r>
          </a:p>
        </p:txBody>
      </p:sp>
      <p:cxnSp>
        <p:nvCxnSpPr>
          <p:cNvPr id="97" name="Elbow Connector 97">
            <a:extLst>
              <a:ext uri="{FF2B5EF4-FFF2-40B4-BE49-F238E27FC236}">
                <a16:creationId xmlns:a16="http://schemas.microsoft.com/office/drawing/2014/main" id="{0E82037D-8A70-4967-A3EA-E7FE76E7D7CC}"/>
              </a:ext>
            </a:extLst>
          </p:cNvPr>
          <p:cNvCxnSpPr>
            <a:cxnSpLocks/>
            <a:stCxn id="7" idx="3"/>
            <a:endCxn id="96" idx="1"/>
          </p:cNvCxnSpPr>
          <p:nvPr/>
        </p:nvCxnSpPr>
        <p:spPr>
          <a:xfrm flipV="1">
            <a:off x="7724643" y="1158639"/>
            <a:ext cx="703026" cy="410582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94">
            <a:extLst>
              <a:ext uri="{FF2B5EF4-FFF2-40B4-BE49-F238E27FC236}">
                <a16:creationId xmlns:a16="http://schemas.microsoft.com/office/drawing/2014/main" id="{D8C425B4-1BB3-4B74-92F0-D296F1303857}"/>
              </a:ext>
            </a:extLst>
          </p:cNvPr>
          <p:cNvSpPr/>
          <p:nvPr/>
        </p:nvSpPr>
        <p:spPr>
          <a:xfrm>
            <a:off x="8428566" y="2029942"/>
            <a:ext cx="2982686" cy="813095"/>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(15) Proceed to Derived Data processing</a:t>
            </a:r>
          </a:p>
        </p:txBody>
      </p:sp>
      <p:cxnSp>
        <p:nvCxnSpPr>
          <p:cNvPr id="19" name="Straight Arrow Connector 18">
            <a:extLst>
              <a:ext uri="{FF2B5EF4-FFF2-40B4-BE49-F238E27FC236}">
                <a16:creationId xmlns:a16="http://schemas.microsoft.com/office/drawing/2014/main" id="{AF91610C-1EEB-4EDF-9785-E6FFF4B4BA85}"/>
              </a:ext>
            </a:extLst>
          </p:cNvPr>
          <p:cNvCxnSpPr>
            <a:cxnSpLocks/>
            <a:stCxn id="96" idx="2"/>
            <a:endCxn id="18" idx="0"/>
          </p:cNvCxnSpPr>
          <p:nvPr/>
        </p:nvCxnSpPr>
        <p:spPr>
          <a:xfrm>
            <a:off x="9919012" y="1565186"/>
            <a:ext cx="897" cy="46475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819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57648" y="1260475"/>
            <a:ext cx="3645723" cy="2766951"/>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(16) </a:t>
            </a:r>
            <a:r>
              <a:rPr lang="en-US" b="1" dirty="0">
                <a:solidFill>
                  <a:schemeClr val="tx1"/>
                </a:solidFill>
              </a:rPr>
              <a:t>For derived data</a:t>
            </a:r>
            <a:r>
              <a:rPr lang="en-US" dirty="0">
                <a:solidFill>
                  <a:schemeClr val="tx1"/>
                </a:solidFill>
              </a:rPr>
              <a:t>, go to the “archived data” folder specific folder to an experiment, data set and year, then to “1-Biomass (Derived)”. Move all files to a new folder you created in the “Retired Versions” folder. Copy SAS files (only) back to the main folder and update end year in all file names. </a:t>
            </a:r>
          </a:p>
        </p:txBody>
      </p:sp>
      <p:sp>
        <p:nvSpPr>
          <p:cNvPr id="5" name="Rounded Rectangle 4"/>
          <p:cNvSpPr/>
          <p:nvPr/>
        </p:nvSpPr>
        <p:spPr>
          <a:xfrm>
            <a:off x="5112775" y="1277038"/>
            <a:ext cx="3164685" cy="1366912"/>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(18) Run SAS programs, which will generate several output CSV files including those that will be published.</a:t>
            </a:r>
          </a:p>
        </p:txBody>
      </p:sp>
      <p:sp>
        <p:nvSpPr>
          <p:cNvPr id="7" name="Rounded Rectangle 6"/>
          <p:cNvSpPr/>
          <p:nvPr/>
        </p:nvSpPr>
        <p:spPr>
          <a:xfrm>
            <a:off x="9103754" y="1300139"/>
            <a:ext cx="2677885" cy="660355"/>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(20) Lock files. Pat will post. </a:t>
            </a:r>
          </a:p>
        </p:txBody>
      </p:sp>
      <p:cxnSp>
        <p:nvCxnSpPr>
          <p:cNvPr id="16" name="Straight Arrow Connector 15"/>
          <p:cNvCxnSpPr>
            <a:cxnSpLocks/>
            <a:stCxn id="4" idx="2"/>
            <a:endCxn id="59" idx="0"/>
          </p:cNvCxnSpPr>
          <p:nvPr/>
        </p:nvCxnSpPr>
        <p:spPr>
          <a:xfrm>
            <a:off x="2580510" y="4027426"/>
            <a:ext cx="0" cy="5278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3369363" y="191263"/>
            <a:ext cx="5663345" cy="400110"/>
          </a:xfrm>
          <a:prstGeom prst="rect">
            <a:avLst/>
          </a:prstGeom>
          <a:noFill/>
        </p:spPr>
        <p:txBody>
          <a:bodyPr wrap="none" rtlCol="0">
            <a:spAutoFit/>
          </a:bodyPr>
          <a:lstStyle/>
          <a:p>
            <a:r>
              <a:rPr lang="en-US" sz="2000" b="1" dirty="0"/>
              <a:t>GCREW Workflow from Data Entry to Public Posting</a:t>
            </a:r>
          </a:p>
        </p:txBody>
      </p:sp>
      <p:sp>
        <p:nvSpPr>
          <p:cNvPr id="59" name="Rounded Rectangle 58"/>
          <p:cNvSpPr/>
          <p:nvPr/>
        </p:nvSpPr>
        <p:spPr>
          <a:xfrm>
            <a:off x="888276" y="4555287"/>
            <a:ext cx="3384468" cy="983613"/>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(17) Edit SAS files for updated raw-data input file names, comments, and other details.</a:t>
            </a:r>
          </a:p>
        </p:txBody>
      </p:sp>
      <p:sp>
        <p:nvSpPr>
          <p:cNvPr id="95" name="Rounded Rectangle 94"/>
          <p:cNvSpPr/>
          <p:nvPr/>
        </p:nvSpPr>
        <p:spPr>
          <a:xfrm>
            <a:off x="5203774" y="3356248"/>
            <a:ext cx="2982686" cy="2220517"/>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(19) Open CSV files in Excel. Open the old version of the same file and copy sheets for “metadata” and “change log”. Save Excel file as with “published date” as date it was generated.</a:t>
            </a:r>
          </a:p>
        </p:txBody>
      </p:sp>
      <p:cxnSp>
        <p:nvCxnSpPr>
          <p:cNvPr id="98" name="Elbow Connector 97"/>
          <p:cNvCxnSpPr>
            <a:cxnSpLocks/>
            <a:stCxn id="59" idx="3"/>
            <a:endCxn id="5" idx="1"/>
          </p:cNvCxnSpPr>
          <p:nvPr/>
        </p:nvCxnSpPr>
        <p:spPr>
          <a:xfrm flipV="1">
            <a:off x="4272744" y="1960494"/>
            <a:ext cx="840031" cy="308660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cxnSpLocks/>
            <a:stCxn id="5" idx="2"/>
            <a:endCxn id="95" idx="0"/>
          </p:cNvCxnSpPr>
          <p:nvPr/>
        </p:nvCxnSpPr>
        <p:spPr>
          <a:xfrm flipH="1">
            <a:off x="6695117" y="2643950"/>
            <a:ext cx="1" cy="71229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Elbow Connector 97">
            <a:extLst>
              <a:ext uri="{FF2B5EF4-FFF2-40B4-BE49-F238E27FC236}">
                <a16:creationId xmlns:a16="http://schemas.microsoft.com/office/drawing/2014/main" id="{48B31499-5FA2-475F-A962-6B5852B99900}"/>
              </a:ext>
            </a:extLst>
          </p:cNvPr>
          <p:cNvCxnSpPr>
            <a:cxnSpLocks/>
            <a:stCxn id="95" idx="3"/>
            <a:endCxn id="7" idx="1"/>
          </p:cNvCxnSpPr>
          <p:nvPr/>
        </p:nvCxnSpPr>
        <p:spPr>
          <a:xfrm flipV="1">
            <a:off x="8186460" y="1630317"/>
            <a:ext cx="917294" cy="283619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9522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615</TotalTime>
  <Words>672</Words>
  <Application>Microsoft Office PowerPoint</Application>
  <PresentationFormat>Widescreen</PresentationFormat>
  <Paragraphs>25</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Smithsonian Institution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Megonigal, Patrick</dc:creator>
  <cp:lastModifiedBy>Fien, Erin</cp:lastModifiedBy>
  <cp:revision>48</cp:revision>
  <cp:lastPrinted>2016-03-18T13:13:36Z</cp:lastPrinted>
  <dcterms:created xsi:type="dcterms:W3CDTF">2016-03-06T16:59:52Z</dcterms:created>
  <dcterms:modified xsi:type="dcterms:W3CDTF">2022-08-08T17:43:54Z</dcterms:modified>
</cp:coreProperties>
</file>