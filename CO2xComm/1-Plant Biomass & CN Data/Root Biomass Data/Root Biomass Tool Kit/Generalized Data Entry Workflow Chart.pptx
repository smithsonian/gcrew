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6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8A0720-08A6-471F-9FE0-2548F108A0F0}"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80369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8A0720-08A6-471F-9FE0-2548F108A0F0}"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73047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8A0720-08A6-471F-9FE0-2548F108A0F0}"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03938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8A0720-08A6-471F-9FE0-2548F108A0F0}" type="datetimeFigureOut">
              <a:rPr lang="en-US" smtClean="0"/>
              <a:t>6/29/2016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504111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8A0720-08A6-471F-9FE0-2548F108A0F0}" type="datetimeFigureOut">
              <a:rPr lang="en-US" smtClean="0"/>
              <a:t>6/29/2016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000396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8A0720-08A6-471F-9FE0-2548F108A0F0}" type="datetimeFigureOut">
              <a:rPr lang="en-US" smtClean="0"/>
              <a:t>6/29/2016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32625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8A0720-08A6-471F-9FE0-2548F108A0F0}" type="datetimeFigureOut">
              <a:rPr lang="en-US" smtClean="0"/>
              <a:t>6/29/2016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422591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8A0720-08A6-471F-9FE0-2548F108A0F0}" type="datetimeFigureOut">
              <a:rPr lang="en-US" smtClean="0"/>
              <a:t>6/29/2016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810332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8A0720-08A6-471F-9FE0-2548F108A0F0}" type="datetimeFigureOut">
              <a:rPr lang="en-US" smtClean="0"/>
              <a:t>6/29/2016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53398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8A0720-08A6-471F-9FE0-2548F108A0F0}"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236763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8A0720-08A6-471F-9FE0-2548F108A0F0}"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4146482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8A0720-08A6-471F-9FE0-2548F108A0F0}" type="datetimeFigureOut">
              <a:rPr lang="en-US" smtClean="0"/>
              <a:t>6/29/2016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4F133-6CF3-4863-87FB-2D5F2D5FCDE5}" type="slidenum">
              <a:rPr lang="en-US" smtClean="0"/>
              <a:t>‹#›</a:t>
            </a:fld>
            <a:endParaRPr lang="en-US"/>
          </a:p>
        </p:txBody>
      </p:sp>
    </p:spTree>
    <p:extLst>
      <p:ext uri="{BB962C8B-B14F-4D97-AF65-F5344CB8AC3E}">
        <p14:creationId xmlns:p14="http://schemas.microsoft.com/office/powerpoint/2010/main" val="44555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0629" y="475013"/>
            <a:ext cx="3645723" cy="276695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(1) Copy two templates from “toolkit” folder to specific folder for the experiment, data set and year. First the appropriate Excel file </a:t>
            </a:r>
            <a:r>
              <a:rPr lang="en-US" dirty="0" smtClean="0">
                <a:solidFill>
                  <a:schemeClr val="tx1"/>
                </a:solidFill>
              </a:rPr>
              <a:t>in the </a:t>
            </a:r>
            <a:r>
              <a:rPr lang="en-US" dirty="0" smtClean="0">
                <a:solidFill>
                  <a:schemeClr val="tx1"/>
                </a:solidFill>
              </a:rPr>
              <a:t>“Data Entry Templates” </a:t>
            </a:r>
            <a:r>
              <a:rPr lang="en-US" dirty="0" smtClean="0">
                <a:solidFill>
                  <a:schemeClr val="tx1"/>
                </a:solidFill>
              </a:rPr>
              <a:t>folder; second the </a:t>
            </a:r>
            <a:r>
              <a:rPr lang="en-US" dirty="0" smtClean="0">
                <a:solidFill>
                  <a:schemeClr val="tx1"/>
                </a:solidFill>
              </a:rPr>
              <a:t>SAS file in “Data Transfer QAQC” folder. Rename each with a leading “1-” and an ending “year” to organize.</a:t>
            </a:r>
            <a:endParaRPr lang="en-US" dirty="0">
              <a:solidFill>
                <a:schemeClr val="tx1"/>
              </a:solidFill>
            </a:endParaRPr>
          </a:p>
        </p:txBody>
      </p:sp>
      <p:sp>
        <p:nvSpPr>
          <p:cNvPr id="5" name="Rounded Rectangle 4"/>
          <p:cNvSpPr/>
          <p:nvPr/>
        </p:nvSpPr>
        <p:spPr>
          <a:xfrm>
            <a:off x="296884" y="4488874"/>
            <a:ext cx="3325091" cy="1959428"/>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(3) Edit new file pathnames in SAS QAQC program. See SAS program for details. SAS adds new </a:t>
            </a:r>
            <a:r>
              <a:rPr lang="en-US" dirty="0">
                <a:solidFill>
                  <a:schemeClr val="tx1"/>
                </a:solidFill>
              </a:rPr>
              <a:t>variables </a:t>
            </a:r>
            <a:r>
              <a:rPr lang="en-US" dirty="0" smtClean="0">
                <a:solidFill>
                  <a:schemeClr val="tx1"/>
                </a:solidFill>
              </a:rPr>
              <a:t>needed for the “active” file (e.g. rust). It may also create separate output files if needed (e.g. density).</a:t>
            </a:r>
            <a:endParaRPr lang="en-US" dirty="0">
              <a:solidFill>
                <a:schemeClr val="tx1"/>
              </a:solidFill>
            </a:endParaRPr>
          </a:p>
        </p:txBody>
      </p:sp>
      <p:sp>
        <p:nvSpPr>
          <p:cNvPr id="7" name="Rounded Rectangle 6"/>
          <p:cNvSpPr/>
          <p:nvPr/>
        </p:nvSpPr>
        <p:spPr>
          <a:xfrm>
            <a:off x="4120738" y="5260769"/>
            <a:ext cx="2677885" cy="1157846"/>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 Lock </a:t>
            </a:r>
            <a:r>
              <a:rPr lang="en-US" u="sng" dirty="0" smtClean="0">
                <a:solidFill>
                  <a:schemeClr val="tx1"/>
                </a:solidFill>
              </a:rPr>
              <a:t>all</a:t>
            </a:r>
            <a:r>
              <a:rPr lang="en-US" dirty="0" smtClean="0">
                <a:solidFill>
                  <a:schemeClr val="tx1"/>
                </a:solidFill>
              </a:rPr>
              <a:t> files in this step (e.g. beginning with “1-”) as read only.</a:t>
            </a:r>
            <a:endParaRPr lang="en-US" dirty="0">
              <a:solidFill>
                <a:schemeClr val="tx1"/>
              </a:solidFill>
            </a:endParaRPr>
          </a:p>
        </p:txBody>
      </p:sp>
      <p:sp>
        <p:nvSpPr>
          <p:cNvPr id="9" name="Rounded Rectangle 8"/>
          <p:cNvSpPr/>
          <p:nvPr/>
        </p:nvSpPr>
        <p:spPr>
          <a:xfrm>
            <a:off x="7671460" y="2576945"/>
            <a:ext cx="4346368" cy="370510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(7) </a:t>
            </a:r>
            <a:r>
              <a:rPr lang="en-US" dirty="0" smtClean="0">
                <a:solidFill>
                  <a:schemeClr val="tx1"/>
                </a:solidFill>
              </a:rPr>
              <a:t>In “archived data” folder, move </a:t>
            </a:r>
            <a:r>
              <a:rPr lang="en-US" dirty="0">
                <a:solidFill>
                  <a:schemeClr val="tx1"/>
                </a:solidFill>
              </a:rPr>
              <a:t>last archived file </a:t>
            </a:r>
            <a:r>
              <a:rPr lang="en-US" dirty="0" smtClean="0">
                <a:solidFill>
                  <a:schemeClr val="tx1"/>
                </a:solidFill>
              </a:rPr>
              <a:t>(with publication </a:t>
            </a:r>
            <a:r>
              <a:rPr lang="en-US" dirty="0" smtClean="0">
                <a:solidFill>
                  <a:schemeClr val="tx1"/>
                </a:solidFill>
              </a:rPr>
              <a:t>date) </a:t>
            </a:r>
            <a:r>
              <a:rPr lang="en-US" dirty="0">
                <a:solidFill>
                  <a:schemeClr val="tx1"/>
                </a:solidFill>
              </a:rPr>
              <a:t>to </a:t>
            </a:r>
            <a:r>
              <a:rPr lang="en-US" dirty="0" smtClean="0">
                <a:solidFill>
                  <a:schemeClr val="tx1"/>
                </a:solidFill>
              </a:rPr>
              <a:t>“retired” older</a:t>
            </a:r>
            <a:r>
              <a:rPr lang="en-US" dirty="0" smtClean="0">
                <a:solidFill>
                  <a:schemeClr val="tx1"/>
                </a:solidFill>
              </a:rPr>
              <a:t>. If it is raw data, unlock file named “(</a:t>
            </a:r>
            <a:r>
              <a:rPr lang="en-US" dirty="0" smtClean="0">
                <a:solidFill>
                  <a:schemeClr val="tx1"/>
                </a:solidFill>
              </a:rPr>
              <a:t>active file)”. Create new sheet named with year.  Move old copy of active file to “retired”. Copy new data into this sheet. Also append data to the master sheet named “data”. Update </a:t>
            </a:r>
            <a:r>
              <a:rPr lang="en-US" dirty="0" smtClean="0">
                <a:solidFill>
                  <a:schemeClr val="tx1"/>
                </a:solidFill>
              </a:rPr>
              <a:t>metadata and change </a:t>
            </a:r>
            <a:r>
              <a:rPr lang="en-US" dirty="0" smtClean="0">
                <a:solidFill>
                  <a:schemeClr val="tx1"/>
                </a:solidFill>
              </a:rPr>
              <a:t>log. Rename with </a:t>
            </a:r>
            <a:r>
              <a:rPr lang="en-US" dirty="0" smtClean="0">
                <a:solidFill>
                  <a:schemeClr val="tx1"/>
                </a:solidFill>
              </a:rPr>
              <a:t>new </a:t>
            </a:r>
            <a:r>
              <a:rPr lang="en-US" dirty="0" smtClean="0">
                <a:solidFill>
                  <a:schemeClr val="tx1"/>
                </a:solidFill>
              </a:rPr>
              <a:t>end year. Lock read only</a:t>
            </a:r>
            <a:r>
              <a:rPr lang="en-US" dirty="0">
                <a:solidFill>
                  <a:schemeClr val="tx1"/>
                </a:solidFill>
              </a:rPr>
              <a:t>. </a:t>
            </a:r>
            <a:r>
              <a:rPr lang="en-US" u="sng" dirty="0" smtClean="0">
                <a:solidFill>
                  <a:schemeClr val="tx1"/>
                </a:solidFill>
              </a:rPr>
              <a:t>All </a:t>
            </a:r>
            <a:r>
              <a:rPr lang="en-US" u="sng" dirty="0">
                <a:solidFill>
                  <a:schemeClr val="tx1"/>
                </a:solidFill>
              </a:rPr>
              <a:t>edits subsequent to the last step are done to this </a:t>
            </a:r>
            <a:r>
              <a:rPr lang="en-US" u="sng" dirty="0" smtClean="0">
                <a:solidFill>
                  <a:schemeClr val="tx1"/>
                </a:solidFill>
              </a:rPr>
              <a:t>file</a:t>
            </a:r>
            <a:r>
              <a:rPr lang="en-US" dirty="0" smtClean="0">
                <a:solidFill>
                  <a:schemeClr val="tx1"/>
                </a:solidFill>
              </a:rPr>
              <a:t> as the </a:t>
            </a:r>
            <a:r>
              <a:rPr lang="en-US" dirty="0" smtClean="0">
                <a:solidFill>
                  <a:schemeClr val="tx1"/>
                </a:solidFill>
              </a:rPr>
              <a:t>traceable record of editing done after transfer.</a:t>
            </a:r>
            <a:endParaRPr lang="en-US" dirty="0">
              <a:solidFill>
                <a:schemeClr val="tx1"/>
              </a:solidFill>
            </a:endParaRPr>
          </a:p>
        </p:txBody>
      </p:sp>
      <p:sp>
        <p:nvSpPr>
          <p:cNvPr id="10" name="Rounded Rectangle 9"/>
          <p:cNvSpPr/>
          <p:nvPr/>
        </p:nvSpPr>
        <p:spPr>
          <a:xfrm>
            <a:off x="7768442" y="700644"/>
            <a:ext cx="4142510" cy="149629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(8) Save a copy of the “active file” for public posting. Delete spreadsheets with year specific data. Remove comments and cell fill colors. </a:t>
            </a:r>
            <a:r>
              <a:rPr lang="en-US" dirty="0">
                <a:solidFill>
                  <a:schemeClr val="tx1"/>
                </a:solidFill>
              </a:rPr>
              <a:t>Lock </a:t>
            </a:r>
            <a:r>
              <a:rPr lang="en-US" dirty="0" smtClean="0">
                <a:solidFill>
                  <a:schemeClr val="tx1"/>
                </a:solidFill>
              </a:rPr>
              <a:t>read only. Pat will Post.</a:t>
            </a:r>
            <a:endParaRPr lang="en-US" dirty="0">
              <a:solidFill>
                <a:schemeClr val="tx1"/>
              </a:solidFill>
            </a:endParaRPr>
          </a:p>
        </p:txBody>
      </p:sp>
      <p:sp>
        <p:nvSpPr>
          <p:cNvPr id="11" name="Rounded Rectangle 10"/>
          <p:cNvSpPr/>
          <p:nvPr/>
        </p:nvSpPr>
        <p:spPr>
          <a:xfrm>
            <a:off x="4417622" y="2788720"/>
            <a:ext cx="2620482" cy="210391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 Edit. Record in “Error” files the result of any remaining flagged observations. Note: SAS generated output file titled “(for transfer)”</a:t>
            </a:r>
            <a:endParaRPr lang="en-US" dirty="0">
              <a:solidFill>
                <a:schemeClr val="tx1"/>
              </a:solidFill>
            </a:endParaRPr>
          </a:p>
        </p:txBody>
      </p:sp>
      <p:cxnSp>
        <p:nvCxnSpPr>
          <p:cNvPr id="16" name="Straight Arrow Connector 15"/>
          <p:cNvCxnSpPr>
            <a:stCxn id="4" idx="2"/>
            <a:endCxn id="59" idx="0"/>
          </p:cNvCxnSpPr>
          <p:nvPr/>
        </p:nvCxnSpPr>
        <p:spPr>
          <a:xfrm flipH="1">
            <a:off x="1953490" y="3241964"/>
            <a:ext cx="1" cy="3641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3895106" y="3479470"/>
            <a:ext cx="551754" cy="369332"/>
          </a:xfrm>
          <a:prstGeom prst="rect">
            <a:avLst/>
          </a:prstGeom>
          <a:noFill/>
        </p:spPr>
        <p:txBody>
          <a:bodyPr wrap="none" rtlCol="0">
            <a:spAutoFit/>
          </a:bodyPr>
          <a:lstStyle/>
          <a:p>
            <a:r>
              <a:rPr lang="en-US" dirty="0" smtClean="0"/>
              <a:t>edit</a:t>
            </a:r>
            <a:endParaRPr lang="en-US" dirty="0"/>
          </a:p>
        </p:txBody>
      </p:sp>
      <p:sp>
        <p:nvSpPr>
          <p:cNvPr id="63" name="TextBox 62"/>
          <p:cNvSpPr txBox="1"/>
          <p:nvPr/>
        </p:nvSpPr>
        <p:spPr>
          <a:xfrm>
            <a:off x="5258791" y="1921823"/>
            <a:ext cx="467116" cy="369332"/>
          </a:xfrm>
          <a:prstGeom prst="rect">
            <a:avLst/>
          </a:prstGeom>
          <a:noFill/>
        </p:spPr>
        <p:txBody>
          <a:bodyPr wrap="none" rtlCol="0">
            <a:spAutoFit/>
          </a:bodyPr>
          <a:lstStyle/>
          <a:p>
            <a:r>
              <a:rPr lang="en-US" dirty="0" smtClean="0"/>
              <a:t>fail</a:t>
            </a:r>
            <a:endParaRPr lang="en-US" dirty="0"/>
          </a:p>
        </p:txBody>
      </p:sp>
      <p:sp>
        <p:nvSpPr>
          <p:cNvPr id="68" name="TextBox 67"/>
          <p:cNvSpPr txBox="1"/>
          <p:nvPr/>
        </p:nvSpPr>
        <p:spPr>
          <a:xfrm>
            <a:off x="6871856" y="1896090"/>
            <a:ext cx="596638" cy="369332"/>
          </a:xfrm>
          <a:prstGeom prst="rect">
            <a:avLst/>
          </a:prstGeom>
          <a:noFill/>
        </p:spPr>
        <p:txBody>
          <a:bodyPr wrap="none" rtlCol="0">
            <a:spAutoFit/>
          </a:bodyPr>
          <a:lstStyle/>
          <a:p>
            <a:r>
              <a:rPr lang="en-US" dirty="0" smtClean="0"/>
              <a:t>pass</a:t>
            </a:r>
            <a:endParaRPr lang="en-US" dirty="0"/>
          </a:p>
        </p:txBody>
      </p:sp>
      <p:sp>
        <p:nvSpPr>
          <p:cNvPr id="76" name="TextBox 75"/>
          <p:cNvSpPr txBox="1"/>
          <p:nvPr/>
        </p:nvSpPr>
        <p:spPr>
          <a:xfrm>
            <a:off x="3289464" y="0"/>
            <a:ext cx="5600829" cy="400110"/>
          </a:xfrm>
          <a:prstGeom prst="rect">
            <a:avLst/>
          </a:prstGeom>
          <a:noFill/>
        </p:spPr>
        <p:txBody>
          <a:bodyPr wrap="none" rtlCol="0">
            <a:spAutoFit/>
          </a:bodyPr>
          <a:lstStyle/>
          <a:p>
            <a:r>
              <a:rPr lang="en-US" sz="2000" b="1" dirty="0" smtClean="0"/>
              <a:t>GCREW Workflow from Data Entry to Pubic Posting</a:t>
            </a:r>
            <a:endParaRPr lang="en-US" sz="2000" b="1" dirty="0"/>
          </a:p>
        </p:txBody>
      </p:sp>
      <p:sp>
        <p:nvSpPr>
          <p:cNvPr id="59" name="Rounded Rectangle 58"/>
          <p:cNvSpPr/>
          <p:nvPr/>
        </p:nvSpPr>
        <p:spPr>
          <a:xfrm>
            <a:off x="261256" y="3606142"/>
            <a:ext cx="3384468" cy="46709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 Enter data into Excel template.</a:t>
            </a:r>
            <a:endParaRPr lang="en-US" dirty="0">
              <a:solidFill>
                <a:schemeClr val="tx1"/>
              </a:solidFill>
            </a:endParaRPr>
          </a:p>
        </p:txBody>
      </p:sp>
      <p:cxnSp>
        <p:nvCxnSpPr>
          <p:cNvPr id="126" name="Straight Arrow Connector 125"/>
          <p:cNvCxnSpPr>
            <a:stCxn id="59" idx="2"/>
            <a:endCxn id="5" idx="0"/>
          </p:cNvCxnSpPr>
          <p:nvPr/>
        </p:nvCxnSpPr>
        <p:spPr>
          <a:xfrm>
            <a:off x="1953490" y="4073237"/>
            <a:ext cx="5940" cy="4156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ounded Rectangle 94"/>
          <p:cNvSpPr/>
          <p:nvPr/>
        </p:nvSpPr>
        <p:spPr>
          <a:xfrm>
            <a:off x="4237512" y="670957"/>
            <a:ext cx="2982686" cy="86096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 Run QAQC SAS program</a:t>
            </a:r>
            <a:endParaRPr lang="en-US" dirty="0">
              <a:solidFill>
                <a:schemeClr val="tx1"/>
              </a:solidFill>
            </a:endParaRPr>
          </a:p>
        </p:txBody>
      </p:sp>
      <p:cxnSp>
        <p:nvCxnSpPr>
          <p:cNvPr id="98" name="Elbow Connector 97"/>
          <p:cNvCxnSpPr>
            <a:stCxn id="5" idx="3"/>
            <a:endCxn id="95" idx="1"/>
          </p:cNvCxnSpPr>
          <p:nvPr/>
        </p:nvCxnSpPr>
        <p:spPr>
          <a:xfrm flipV="1">
            <a:off x="3621975" y="1101437"/>
            <a:ext cx="615537" cy="436715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95" idx="2"/>
            <a:endCxn id="11" idx="0"/>
          </p:cNvCxnSpPr>
          <p:nvPr/>
        </p:nvCxnSpPr>
        <p:spPr>
          <a:xfrm flipH="1">
            <a:off x="5727863" y="1531917"/>
            <a:ext cx="992" cy="12568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11" idx="1"/>
            <a:endCxn id="59" idx="3"/>
          </p:cNvCxnSpPr>
          <p:nvPr/>
        </p:nvCxnSpPr>
        <p:spPr>
          <a:xfrm flipH="1" flipV="1">
            <a:off x="3645724" y="3839690"/>
            <a:ext cx="771898" cy="987"/>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111"/>
          <p:cNvCxnSpPr>
            <a:stCxn id="95" idx="3"/>
            <a:endCxn id="7" idx="3"/>
          </p:cNvCxnSpPr>
          <p:nvPr/>
        </p:nvCxnSpPr>
        <p:spPr>
          <a:xfrm flipH="1">
            <a:off x="6798623" y="1101437"/>
            <a:ext cx="421575" cy="4738255"/>
          </a:xfrm>
          <a:prstGeom prst="bentConnector3">
            <a:avLst>
              <a:gd name="adj1" fmla="val -5422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Elbow Connector 116"/>
          <p:cNvCxnSpPr>
            <a:stCxn id="7" idx="2"/>
            <a:endCxn id="9" idx="2"/>
          </p:cNvCxnSpPr>
          <p:nvPr/>
        </p:nvCxnSpPr>
        <p:spPr>
          <a:xfrm rot="5400000" flipH="1" flipV="1">
            <a:off x="7583877" y="4157849"/>
            <a:ext cx="136569" cy="4384963"/>
          </a:xfrm>
          <a:prstGeom prst="bentConnector3">
            <a:avLst>
              <a:gd name="adj1" fmla="val -16738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stCxn id="9" idx="0"/>
            <a:endCxn id="10" idx="2"/>
          </p:cNvCxnSpPr>
          <p:nvPr/>
        </p:nvCxnSpPr>
        <p:spPr>
          <a:xfrm flipH="1" flipV="1">
            <a:off x="9839697" y="2196935"/>
            <a:ext cx="4947" cy="3800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59719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341</Words>
  <Application>Microsoft Office PowerPoint</Application>
  <PresentationFormat>Widescreen</PresentationFormat>
  <Paragraphs>12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Smithsonian Institution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Megonigal, Patrick</dc:creator>
  <cp:lastModifiedBy>Megonigal, Patrick</cp:lastModifiedBy>
  <cp:revision>26</cp:revision>
  <cp:lastPrinted>2016-03-18T13:13:36Z</cp:lastPrinted>
  <dcterms:created xsi:type="dcterms:W3CDTF">2016-03-06T16:59:52Z</dcterms:created>
  <dcterms:modified xsi:type="dcterms:W3CDTF">2016-06-29T18:26:12Z</dcterms:modified>
</cp:coreProperties>
</file>